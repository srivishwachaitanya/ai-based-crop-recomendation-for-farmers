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media/image4.jpg" ContentType="image/jpg"/>
  <Override PartName="/ppt/media/image5.jpg" ContentType="image/jpg"/>
  <Override PartName="/ppt/media/image6.jpg" ContentType="image/jpg"/>
  <Override PartName="/ppt/media/image8.jpg" ContentType="image/jp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3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5C6B6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5C6B6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5C6B6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5C6B6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150" b="0" i="0">
                <a:solidFill>
                  <a:srgbClr val="5C6B6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30300" y="1560454"/>
            <a:ext cx="10129520" cy="96138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78800" y="1680849"/>
            <a:ext cx="8717280" cy="21196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100" b="1" i="0">
                <a:solidFill>
                  <a:srgbClr val="163A26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130300" y="9485020"/>
            <a:ext cx="7951470" cy="2724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150" b="0" i="0">
                <a:solidFill>
                  <a:srgbClr val="5C6B6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10/16/2026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D86D52-5CB9-C009-81B4-BD1FF4B13D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485" y="0"/>
            <a:ext cx="12203205" cy="10287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10886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77500" y="0"/>
            <a:ext cx="7810499" cy="10286999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1130300" y="1310665"/>
            <a:ext cx="263080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D9B44A"/>
                </a:solidFill>
                <a:latin typeface="Arial"/>
                <a:cs typeface="Arial"/>
              </a:rPr>
              <a:t>DTIE</a:t>
            </a:r>
            <a:r>
              <a:rPr sz="2400" b="1" spc="-30" dirty="0">
                <a:solidFill>
                  <a:srgbClr val="D9B4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9B44A"/>
                </a:solidFill>
                <a:latin typeface="Arial"/>
                <a:cs typeface="Arial"/>
              </a:rPr>
              <a:t>·</a:t>
            </a:r>
            <a:r>
              <a:rPr sz="2400" b="1" spc="30" dirty="0">
                <a:solidFill>
                  <a:srgbClr val="D9B4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9B44A"/>
                </a:solidFill>
                <a:latin typeface="Arial"/>
                <a:cs typeface="Arial"/>
              </a:rPr>
              <a:t>IDEA</a:t>
            </a:r>
            <a:r>
              <a:rPr sz="2400" b="1" spc="-15" dirty="0">
                <a:solidFill>
                  <a:srgbClr val="D9B44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D9B44A"/>
                </a:solidFill>
                <a:latin typeface="Arial"/>
                <a:cs typeface="Arial"/>
              </a:rPr>
              <a:t>EXPO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1130300" y="2613477"/>
            <a:ext cx="7990205" cy="3309620"/>
          </a:xfrm>
          <a:prstGeom prst="rect">
            <a:avLst/>
          </a:prstGeom>
        </p:spPr>
        <p:txBody>
          <a:bodyPr vert="horz" wrap="square" lIns="0" tIns="295275" rIns="0" bIns="0" rtlCol="0">
            <a:spAutoFit/>
          </a:bodyPr>
          <a:lstStyle/>
          <a:p>
            <a:pPr marL="12700" marR="5080">
              <a:lnSpc>
                <a:spcPct val="78100"/>
              </a:lnSpc>
              <a:spcBef>
                <a:spcPts val="2325"/>
              </a:spcBef>
            </a:pPr>
            <a:r>
              <a:rPr sz="8400" spc="-940" dirty="0">
                <a:solidFill>
                  <a:srgbClr val="F4EFE3"/>
                </a:solidFill>
              </a:rPr>
              <a:t>A</a:t>
            </a:r>
            <a:r>
              <a:rPr sz="8400" spc="-980" dirty="0">
                <a:solidFill>
                  <a:srgbClr val="F4EFE3"/>
                </a:solidFill>
              </a:rPr>
              <a:t>I</a:t>
            </a:r>
            <a:r>
              <a:rPr sz="8400" spc="-375" dirty="0">
                <a:solidFill>
                  <a:srgbClr val="F4EFE3"/>
                </a:solidFill>
              </a:rPr>
              <a:t>-</a:t>
            </a:r>
            <a:r>
              <a:rPr sz="8400" spc="-994" dirty="0">
                <a:solidFill>
                  <a:srgbClr val="F4EFE3"/>
                </a:solidFill>
              </a:rPr>
              <a:t>B</a:t>
            </a:r>
            <a:r>
              <a:rPr sz="8400" spc="-1025" dirty="0">
                <a:solidFill>
                  <a:srgbClr val="F4EFE3"/>
                </a:solidFill>
              </a:rPr>
              <a:t>a</a:t>
            </a:r>
            <a:r>
              <a:rPr sz="8400" spc="-385" dirty="0">
                <a:solidFill>
                  <a:srgbClr val="F4EFE3"/>
                </a:solidFill>
              </a:rPr>
              <a:t>s</a:t>
            </a:r>
            <a:r>
              <a:rPr sz="8400" spc="-1050" dirty="0">
                <a:solidFill>
                  <a:srgbClr val="F4EFE3"/>
                </a:solidFill>
              </a:rPr>
              <a:t>e</a:t>
            </a:r>
            <a:r>
              <a:rPr sz="8400" spc="-830" dirty="0">
                <a:solidFill>
                  <a:srgbClr val="F4EFE3"/>
                </a:solidFill>
              </a:rPr>
              <a:t>d</a:t>
            </a:r>
            <a:r>
              <a:rPr sz="8400" spc="-1080" dirty="0">
                <a:solidFill>
                  <a:srgbClr val="F4EFE3"/>
                </a:solidFill>
              </a:rPr>
              <a:t> </a:t>
            </a:r>
            <a:r>
              <a:rPr sz="8400" spc="-575" dirty="0">
                <a:solidFill>
                  <a:srgbClr val="F4EFE3"/>
                </a:solidFill>
              </a:rPr>
              <a:t>Crop </a:t>
            </a:r>
            <a:r>
              <a:rPr sz="8400" spc="-844" dirty="0">
                <a:solidFill>
                  <a:srgbClr val="F4EFE3"/>
                </a:solidFill>
              </a:rPr>
              <a:t>Recommendation </a:t>
            </a:r>
            <a:r>
              <a:rPr sz="8400" spc="-434" dirty="0">
                <a:solidFill>
                  <a:srgbClr val="F4EFE3"/>
                </a:solidFill>
              </a:rPr>
              <a:t>for</a:t>
            </a:r>
            <a:r>
              <a:rPr sz="8400" spc="-1090" dirty="0">
                <a:solidFill>
                  <a:srgbClr val="F4EFE3"/>
                </a:solidFill>
              </a:rPr>
              <a:t> </a:t>
            </a:r>
            <a:r>
              <a:rPr sz="8400" spc="-810" dirty="0">
                <a:solidFill>
                  <a:srgbClr val="F4EFE3"/>
                </a:solidFill>
              </a:rPr>
              <a:t>Farmers</a:t>
            </a:r>
            <a:endParaRPr sz="8400"/>
          </a:p>
        </p:txBody>
      </p:sp>
      <p:sp>
        <p:nvSpPr>
          <p:cNvPr id="6" name="object 6"/>
          <p:cNvSpPr txBox="1"/>
          <p:nvPr/>
        </p:nvSpPr>
        <p:spPr>
          <a:xfrm>
            <a:off x="1130300" y="6546036"/>
            <a:ext cx="742251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spc="-30" dirty="0">
                <a:solidFill>
                  <a:srgbClr val="C9D6CC"/>
                </a:solidFill>
                <a:latin typeface="Arial"/>
                <a:cs typeface="Arial"/>
              </a:rPr>
              <a:t>Data-</a:t>
            </a:r>
            <a:r>
              <a:rPr sz="2800" spc="-60" dirty="0">
                <a:solidFill>
                  <a:srgbClr val="C9D6CC"/>
                </a:solidFill>
                <a:latin typeface="Arial"/>
                <a:cs typeface="Arial"/>
              </a:rPr>
              <a:t>informed</a:t>
            </a:r>
            <a:r>
              <a:rPr sz="28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C9D6CC"/>
                </a:solidFill>
                <a:latin typeface="Arial"/>
                <a:cs typeface="Arial"/>
              </a:rPr>
              <a:t>decisions</a:t>
            </a:r>
            <a:r>
              <a:rPr sz="2800" spc="-13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C9D6CC"/>
                </a:solidFill>
                <a:latin typeface="Arial"/>
                <a:cs typeface="Arial"/>
              </a:rPr>
              <a:t>for</a:t>
            </a:r>
            <a:r>
              <a:rPr sz="2800" spc="-9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C9D6CC"/>
                </a:solidFill>
                <a:latin typeface="Arial"/>
                <a:cs typeface="Arial"/>
              </a:rPr>
              <a:t>every</a:t>
            </a:r>
            <a:r>
              <a:rPr sz="2800" spc="-12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C9D6CC"/>
                </a:solidFill>
                <a:latin typeface="Arial"/>
                <a:cs typeface="Arial"/>
              </a:rPr>
              <a:t>growing</a:t>
            </a:r>
            <a:r>
              <a:rPr sz="2800" spc="-13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C9D6CC"/>
                </a:solidFill>
                <a:latin typeface="Arial"/>
                <a:cs typeface="Arial"/>
              </a:rPr>
              <a:t>season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143000" y="8191500"/>
            <a:ext cx="2857500" cy="762000"/>
          </a:xfrm>
          <a:custGeom>
            <a:avLst/>
            <a:gdLst/>
            <a:ahLst/>
            <a:cxnLst/>
            <a:rect l="l" t="t" r="r" b="b"/>
            <a:pathLst>
              <a:path w="2857500" h="762000">
                <a:moveTo>
                  <a:pt x="2476499" y="761999"/>
                </a:moveTo>
                <a:lnTo>
                  <a:pt x="380999" y="761999"/>
                </a:lnTo>
                <a:lnTo>
                  <a:pt x="371646" y="761885"/>
                </a:lnTo>
                <a:lnTo>
                  <a:pt x="325095" y="757876"/>
                </a:lnTo>
                <a:lnTo>
                  <a:pt x="279385" y="748199"/>
                </a:lnTo>
                <a:lnTo>
                  <a:pt x="235197" y="732997"/>
                </a:lnTo>
                <a:lnTo>
                  <a:pt x="193203" y="712501"/>
                </a:lnTo>
                <a:lnTo>
                  <a:pt x="154038" y="687022"/>
                </a:lnTo>
                <a:lnTo>
                  <a:pt x="118286" y="656940"/>
                </a:lnTo>
                <a:lnTo>
                  <a:pt x="86483" y="622703"/>
                </a:lnTo>
                <a:lnTo>
                  <a:pt x="59109" y="584831"/>
                </a:lnTo>
                <a:lnTo>
                  <a:pt x="36579" y="543898"/>
                </a:lnTo>
                <a:lnTo>
                  <a:pt x="19230" y="500515"/>
                </a:lnTo>
                <a:lnTo>
                  <a:pt x="7320" y="455329"/>
                </a:lnTo>
                <a:lnTo>
                  <a:pt x="1031" y="409025"/>
                </a:lnTo>
                <a:lnTo>
                  <a:pt x="0" y="380999"/>
                </a:lnTo>
                <a:lnTo>
                  <a:pt x="114" y="371646"/>
                </a:lnTo>
                <a:lnTo>
                  <a:pt x="4123" y="325095"/>
                </a:lnTo>
                <a:lnTo>
                  <a:pt x="13800" y="279385"/>
                </a:lnTo>
                <a:lnTo>
                  <a:pt x="29001" y="235197"/>
                </a:lnTo>
                <a:lnTo>
                  <a:pt x="49498" y="193203"/>
                </a:lnTo>
                <a:lnTo>
                  <a:pt x="74977" y="154038"/>
                </a:lnTo>
                <a:lnTo>
                  <a:pt x="105059" y="118286"/>
                </a:lnTo>
                <a:lnTo>
                  <a:pt x="139296" y="86483"/>
                </a:lnTo>
                <a:lnTo>
                  <a:pt x="177168" y="59109"/>
                </a:lnTo>
                <a:lnTo>
                  <a:pt x="218101" y="36579"/>
                </a:lnTo>
                <a:lnTo>
                  <a:pt x="261484" y="19230"/>
                </a:lnTo>
                <a:lnTo>
                  <a:pt x="306670" y="7320"/>
                </a:lnTo>
                <a:lnTo>
                  <a:pt x="352974" y="1031"/>
                </a:lnTo>
                <a:lnTo>
                  <a:pt x="380999" y="0"/>
                </a:lnTo>
                <a:lnTo>
                  <a:pt x="2476499" y="0"/>
                </a:lnTo>
                <a:lnTo>
                  <a:pt x="2523141" y="2865"/>
                </a:lnTo>
                <a:lnTo>
                  <a:pt x="2569074" y="11417"/>
                </a:lnTo>
                <a:lnTo>
                  <a:pt x="2613616" y="25528"/>
                </a:lnTo>
                <a:lnTo>
                  <a:pt x="2656101" y="44987"/>
                </a:lnTo>
                <a:lnTo>
                  <a:pt x="2695884" y="69501"/>
                </a:lnTo>
                <a:lnTo>
                  <a:pt x="2732363" y="98697"/>
                </a:lnTo>
                <a:lnTo>
                  <a:pt x="2764994" y="132138"/>
                </a:lnTo>
                <a:lnTo>
                  <a:pt x="2793289" y="169327"/>
                </a:lnTo>
                <a:lnTo>
                  <a:pt x="2816819" y="209700"/>
                </a:lnTo>
                <a:lnTo>
                  <a:pt x="2835228" y="252644"/>
                </a:lnTo>
                <a:lnTo>
                  <a:pt x="2848241" y="297519"/>
                </a:lnTo>
                <a:lnTo>
                  <a:pt x="2855664" y="343655"/>
                </a:lnTo>
                <a:lnTo>
                  <a:pt x="2857499" y="380999"/>
                </a:lnTo>
                <a:lnTo>
                  <a:pt x="2857385" y="390353"/>
                </a:lnTo>
                <a:lnTo>
                  <a:pt x="2853376" y="436904"/>
                </a:lnTo>
                <a:lnTo>
                  <a:pt x="2843699" y="482614"/>
                </a:lnTo>
                <a:lnTo>
                  <a:pt x="2828497" y="526802"/>
                </a:lnTo>
                <a:lnTo>
                  <a:pt x="2808001" y="568796"/>
                </a:lnTo>
                <a:lnTo>
                  <a:pt x="2782521" y="607961"/>
                </a:lnTo>
                <a:lnTo>
                  <a:pt x="2752439" y="643712"/>
                </a:lnTo>
                <a:lnTo>
                  <a:pt x="2718203" y="675516"/>
                </a:lnTo>
                <a:lnTo>
                  <a:pt x="2680330" y="702890"/>
                </a:lnTo>
                <a:lnTo>
                  <a:pt x="2639398" y="725420"/>
                </a:lnTo>
                <a:lnTo>
                  <a:pt x="2596014" y="742769"/>
                </a:lnTo>
                <a:lnTo>
                  <a:pt x="2550828" y="754679"/>
                </a:lnTo>
                <a:lnTo>
                  <a:pt x="2504525" y="760967"/>
                </a:lnTo>
                <a:lnTo>
                  <a:pt x="2476499" y="7619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673225" y="8308161"/>
            <a:ext cx="179260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90" dirty="0">
                <a:solidFill>
                  <a:srgbClr val="163A26"/>
                </a:solidFill>
                <a:latin typeface="Arial"/>
                <a:cs typeface="Arial"/>
              </a:rPr>
              <a:t>Section</a:t>
            </a:r>
            <a:r>
              <a:rPr sz="2800" b="1" spc="-16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295" dirty="0">
                <a:solidFill>
                  <a:srgbClr val="163A26"/>
                </a:solidFill>
                <a:latin typeface="Arial"/>
                <a:cs typeface="Arial"/>
              </a:rPr>
              <a:t>:</a:t>
            </a:r>
            <a:r>
              <a:rPr sz="2800" b="1" spc="-13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370" dirty="0">
                <a:solidFill>
                  <a:srgbClr val="163A26"/>
                </a:solidFill>
                <a:latin typeface="Arial"/>
                <a:cs typeface="Arial"/>
              </a:rPr>
              <a:t>13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171949" y="8172450"/>
            <a:ext cx="4038600" cy="800100"/>
            <a:chOff x="4171949" y="8172450"/>
            <a:chExt cx="4038600" cy="800100"/>
          </a:xfrm>
        </p:grpSpPr>
        <p:sp>
          <p:nvSpPr>
            <p:cNvPr id="10" name="object 10"/>
            <p:cNvSpPr/>
            <p:nvPr/>
          </p:nvSpPr>
          <p:spPr>
            <a:xfrm>
              <a:off x="4190999" y="8191499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3619499" y="762000"/>
                  </a:moveTo>
                  <a:lnTo>
                    <a:pt x="380999" y="762000"/>
                  </a:lnTo>
                  <a:lnTo>
                    <a:pt x="325095" y="757878"/>
                  </a:lnTo>
                  <a:lnTo>
                    <a:pt x="270400" y="745597"/>
                  </a:lnTo>
                  <a:lnTo>
                    <a:pt x="218100" y="725420"/>
                  </a:lnTo>
                  <a:lnTo>
                    <a:pt x="169327" y="697789"/>
                  </a:lnTo>
                  <a:lnTo>
                    <a:pt x="125134" y="663304"/>
                  </a:lnTo>
                  <a:lnTo>
                    <a:pt x="86480" y="622706"/>
                  </a:lnTo>
                  <a:lnTo>
                    <a:pt x="54203" y="576873"/>
                  </a:lnTo>
                  <a:lnTo>
                    <a:pt x="29001" y="526802"/>
                  </a:lnTo>
                  <a:lnTo>
                    <a:pt x="11414" y="473576"/>
                  </a:lnTo>
                  <a:lnTo>
                    <a:pt x="1829" y="418345"/>
                  </a:lnTo>
                  <a:lnTo>
                    <a:pt x="0" y="380999"/>
                  </a:lnTo>
                  <a:lnTo>
                    <a:pt x="456" y="362305"/>
                  </a:lnTo>
                  <a:lnTo>
                    <a:pt x="7320" y="306670"/>
                  </a:lnTo>
                  <a:lnTo>
                    <a:pt x="22267" y="252643"/>
                  </a:lnTo>
                  <a:lnTo>
                    <a:pt x="44983" y="201395"/>
                  </a:lnTo>
                  <a:lnTo>
                    <a:pt x="74975" y="154037"/>
                  </a:lnTo>
                  <a:lnTo>
                    <a:pt x="111591" y="111592"/>
                  </a:lnTo>
                  <a:lnTo>
                    <a:pt x="154036" y="74975"/>
                  </a:lnTo>
                  <a:lnTo>
                    <a:pt x="201394" y="44983"/>
                  </a:lnTo>
                  <a:lnTo>
                    <a:pt x="252643" y="22269"/>
                  </a:lnTo>
                  <a:lnTo>
                    <a:pt x="306670" y="7321"/>
                  </a:lnTo>
                  <a:lnTo>
                    <a:pt x="362304" y="456"/>
                  </a:lnTo>
                  <a:lnTo>
                    <a:pt x="3619499" y="0"/>
                  </a:lnTo>
                  <a:lnTo>
                    <a:pt x="3638194" y="457"/>
                  </a:lnTo>
                  <a:lnTo>
                    <a:pt x="3693828" y="7321"/>
                  </a:lnTo>
                  <a:lnTo>
                    <a:pt x="3747855" y="22268"/>
                  </a:lnTo>
                  <a:lnTo>
                    <a:pt x="3799103" y="44983"/>
                  </a:lnTo>
                  <a:lnTo>
                    <a:pt x="3846461" y="74976"/>
                  </a:lnTo>
                  <a:lnTo>
                    <a:pt x="3888906" y="111592"/>
                  </a:lnTo>
                  <a:lnTo>
                    <a:pt x="3925523" y="154036"/>
                  </a:lnTo>
                  <a:lnTo>
                    <a:pt x="3955514" y="201395"/>
                  </a:lnTo>
                  <a:lnTo>
                    <a:pt x="3978229" y="252644"/>
                  </a:lnTo>
                  <a:lnTo>
                    <a:pt x="3993178" y="306670"/>
                  </a:lnTo>
                  <a:lnTo>
                    <a:pt x="4000043" y="362304"/>
                  </a:lnTo>
                  <a:lnTo>
                    <a:pt x="4000499" y="380999"/>
                  </a:lnTo>
                  <a:lnTo>
                    <a:pt x="4000042" y="399694"/>
                  </a:lnTo>
                  <a:lnTo>
                    <a:pt x="3993178" y="455329"/>
                  </a:lnTo>
                  <a:lnTo>
                    <a:pt x="3978229" y="509355"/>
                  </a:lnTo>
                  <a:lnTo>
                    <a:pt x="3955514" y="560603"/>
                  </a:lnTo>
                  <a:lnTo>
                    <a:pt x="3925521" y="607961"/>
                  </a:lnTo>
                  <a:lnTo>
                    <a:pt x="3888906" y="650407"/>
                  </a:lnTo>
                  <a:lnTo>
                    <a:pt x="3846462" y="687023"/>
                  </a:lnTo>
                  <a:lnTo>
                    <a:pt x="3799102" y="717014"/>
                  </a:lnTo>
                  <a:lnTo>
                    <a:pt x="3747854" y="739728"/>
                  </a:lnTo>
                  <a:lnTo>
                    <a:pt x="3693828" y="754678"/>
                  </a:lnTo>
                  <a:lnTo>
                    <a:pt x="3638194" y="761544"/>
                  </a:lnTo>
                  <a:lnTo>
                    <a:pt x="3619499" y="762000"/>
                  </a:lnTo>
                  <a:close/>
                </a:path>
              </a:pathLst>
            </a:custGeom>
            <a:solidFill>
              <a:srgbClr val="163A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4190999" y="8191499"/>
              <a:ext cx="4000500" cy="762000"/>
            </a:xfrm>
            <a:custGeom>
              <a:avLst/>
              <a:gdLst/>
              <a:ahLst/>
              <a:cxnLst/>
              <a:rect l="l" t="t" r="r" b="b"/>
              <a:pathLst>
                <a:path w="4000500" h="762000">
                  <a:moveTo>
                    <a:pt x="380999" y="0"/>
                  </a:moveTo>
                  <a:lnTo>
                    <a:pt x="3619499" y="0"/>
                  </a:lnTo>
                  <a:lnTo>
                    <a:pt x="3628849" y="228"/>
                  </a:lnTo>
                  <a:lnTo>
                    <a:pt x="3638194" y="455"/>
                  </a:lnTo>
                  <a:lnTo>
                    <a:pt x="3684613" y="5720"/>
                  </a:lnTo>
                  <a:lnTo>
                    <a:pt x="3702954" y="9369"/>
                  </a:lnTo>
                  <a:lnTo>
                    <a:pt x="3712075" y="11415"/>
                  </a:lnTo>
                  <a:lnTo>
                    <a:pt x="3756576" y="25633"/>
                  </a:lnTo>
                  <a:lnTo>
                    <a:pt x="3773852" y="32789"/>
                  </a:lnTo>
                  <a:lnTo>
                    <a:pt x="3782399" y="36576"/>
                  </a:lnTo>
                  <a:lnTo>
                    <a:pt x="3823270" y="59204"/>
                  </a:lnTo>
                  <a:lnTo>
                    <a:pt x="3838818" y="69594"/>
                  </a:lnTo>
                  <a:lnTo>
                    <a:pt x="3846462" y="74975"/>
                  </a:lnTo>
                  <a:lnTo>
                    <a:pt x="3882133" y="105141"/>
                  </a:lnTo>
                  <a:lnTo>
                    <a:pt x="3895356" y="118365"/>
                  </a:lnTo>
                  <a:lnTo>
                    <a:pt x="3901803" y="125133"/>
                  </a:lnTo>
                  <a:lnTo>
                    <a:pt x="3930904" y="161679"/>
                  </a:lnTo>
                  <a:lnTo>
                    <a:pt x="3941293" y="177229"/>
                  </a:lnTo>
                  <a:lnTo>
                    <a:pt x="3946295" y="185125"/>
                  </a:lnTo>
                  <a:lnTo>
                    <a:pt x="3967708" y="226646"/>
                  </a:lnTo>
                  <a:lnTo>
                    <a:pt x="3974864" y="243923"/>
                  </a:lnTo>
                  <a:lnTo>
                    <a:pt x="3978230" y="252643"/>
                  </a:lnTo>
                  <a:lnTo>
                    <a:pt x="3991130" y="297544"/>
                  </a:lnTo>
                  <a:lnTo>
                    <a:pt x="3994778" y="315885"/>
                  </a:lnTo>
                  <a:lnTo>
                    <a:pt x="3996378" y="325095"/>
                  </a:lnTo>
                  <a:lnTo>
                    <a:pt x="4000271" y="371649"/>
                  </a:lnTo>
                  <a:lnTo>
                    <a:pt x="4000499" y="380999"/>
                  </a:lnTo>
                  <a:lnTo>
                    <a:pt x="4000271" y="390350"/>
                  </a:lnTo>
                  <a:lnTo>
                    <a:pt x="4000043" y="399694"/>
                  </a:lnTo>
                  <a:lnTo>
                    <a:pt x="3994778" y="446113"/>
                  </a:lnTo>
                  <a:lnTo>
                    <a:pt x="3991129" y="464455"/>
                  </a:lnTo>
                  <a:lnTo>
                    <a:pt x="3989083" y="473575"/>
                  </a:lnTo>
                  <a:lnTo>
                    <a:pt x="3974864" y="518076"/>
                  </a:lnTo>
                  <a:lnTo>
                    <a:pt x="3967707" y="535352"/>
                  </a:lnTo>
                  <a:lnTo>
                    <a:pt x="3963920" y="543899"/>
                  </a:lnTo>
                  <a:lnTo>
                    <a:pt x="3941292" y="584770"/>
                  </a:lnTo>
                  <a:lnTo>
                    <a:pt x="3930902" y="600318"/>
                  </a:lnTo>
                  <a:lnTo>
                    <a:pt x="3925522" y="607962"/>
                  </a:lnTo>
                  <a:lnTo>
                    <a:pt x="3895356" y="643633"/>
                  </a:lnTo>
                  <a:lnTo>
                    <a:pt x="3882133" y="656856"/>
                  </a:lnTo>
                  <a:lnTo>
                    <a:pt x="3875364" y="663303"/>
                  </a:lnTo>
                  <a:lnTo>
                    <a:pt x="3838818" y="692404"/>
                  </a:lnTo>
                  <a:lnTo>
                    <a:pt x="3823269" y="702793"/>
                  </a:lnTo>
                  <a:lnTo>
                    <a:pt x="3815373" y="707796"/>
                  </a:lnTo>
                  <a:lnTo>
                    <a:pt x="3773852" y="729207"/>
                  </a:lnTo>
                  <a:lnTo>
                    <a:pt x="3756575" y="736363"/>
                  </a:lnTo>
                  <a:lnTo>
                    <a:pt x="3747854" y="739729"/>
                  </a:lnTo>
                  <a:lnTo>
                    <a:pt x="3738979" y="742662"/>
                  </a:lnTo>
                  <a:lnTo>
                    <a:pt x="3730098" y="745596"/>
                  </a:lnTo>
                  <a:lnTo>
                    <a:pt x="3721084" y="748091"/>
                  </a:lnTo>
                  <a:lnTo>
                    <a:pt x="3712074" y="750582"/>
                  </a:lnTo>
                  <a:lnTo>
                    <a:pt x="3702954" y="752630"/>
                  </a:lnTo>
                  <a:lnTo>
                    <a:pt x="3693828" y="754678"/>
                  </a:lnTo>
                  <a:lnTo>
                    <a:pt x="3684613" y="756278"/>
                  </a:lnTo>
                  <a:lnTo>
                    <a:pt x="3675404" y="757878"/>
                  </a:lnTo>
                  <a:lnTo>
                    <a:pt x="3666127" y="759023"/>
                  </a:lnTo>
                  <a:lnTo>
                    <a:pt x="3656844" y="760169"/>
                  </a:lnTo>
                  <a:lnTo>
                    <a:pt x="3647516" y="760856"/>
                  </a:lnTo>
                  <a:lnTo>
                    <a:pt x="3638194" y="761542"/>
                  </a:lnTo>
                  <a:lnTo>
                    <a:pt x="3628849" y="761771"/>
                  </a:lnTo>
                  <a:lnTo>
                    <a:pt x="3619499" y="761999"/>
                  </a:lnTo>
                  <a:lnTo>
                    <a:pt x="380999" y="761999"/>
                  </a:lnTo>
                  <a:lnTo>
                    <a:pt x="371649" y="761771"/>
                  </a:lnTo>
                  <a:lnTo>
                    <a:pt x="362304" y="761543"/>
                  </a:lnTo>
                  <a:lnTo>
                    <a:pt x="315885" y="756278"/>
                  </a:lnTo>
                  <a:lnTo>
                    <a:pt x="297544" y="752629"/>
                  </a:lnTo>
                  <a:lnTo>
                    <a:pt x="288423" y="750583"/>
                  </a:lnTo>
                  <a:lnTo>
                    <a:pt x="279414" y="748091"/>
                  </a:lnTo>
                  <a:lnTo>
                    <a:pt x="270400" y="745597"/>
                  </a:lnTo>
                  <a:lnTo>
                    <a:pt x="261519" y="742662"/>
                  </a:lnTo>
                  <a:lnTo>
                    <a:pt x="252644" y="739728"/>
                  </a:lnTo>
                  <a:lnTo>
                    <a:pt x="243923" y="736364"/>
                  </a:lnTo>
                  <a:lnTo>
                    <a:pt x="235197" y="732996"/>
                  </a:lnTo>
                  <a:lnTo>
                    <a:pt x="226646" y="729207"/>
                  </a:lnTo>
                  <a:lnTo>
                    <a:pt x="218100" y="725421"/>
                  </a:lnTo>
                  <a:lnTo>
                    <a:pt x="209750" y="721219"/>
                  </a:lnTo>
                  <a:lnTo>
                    <a:pt x="201395" y="717014"/>
                  </a:lnTo>
                  <a:lnTo>
                    <a:pt x="193258" y="712404"/>
                  </a:lnTo>
                  <a:lnTo>
                    <a:pt x="185125" y="707795"/>
                  </a:lnTo>
                  <a:lnTo>
                    <a:pt x="177228" y="702794"/>
                  </a:lnTo>
                  <a:lnTo>
                    <a:pt x="169327" y="697789"/>
                  </a:lnTo>
                  <a:lnTo>
                    <a:pt x="161680" y="692404"/>
                  </a:lnTo>
                  <a:lnTo>
                    <a:pt x="154036" y="687024"/>
                  </a:lnTo>
                  <a:lnTo>
                    <a:pt x="146667" y="681273"/>
                  </a:lnTo>
                  <a:lnTo>
                    <a:pt x="139293" y="675520"/>
                  </a:lnTo>
                  <a:lnTo>
                    <a:pt x="132211" y="669410"/>
                  </a:lnTo>
                  <a:lnTo>
                    <a:pt x="125134" y="663303"/>
                  </a:lnTo>
                  <a:lnTo>
                    <a:pt x="118365" y="656857"/>
                  </a:lnTo>
                  <a:lnTo>
                    <a:pt x="111592" y="650407"/>
                  </a:lnTo>
                  <a:lnTo>
                    <a:pt x="105142" y="643633"/>
                  </a:lnTo>
                  <a:lnTo>
                    <a:pt x="98695" y="636865"/>
                  </a:lnTo>
                  <a:lnTo>
                    <a:pt x="92589" y="629787"/>
                  </a:lnTo>
                  <a:lnTo>
                    <a:pt x="86479" y="622705"/>
                  </a:lnTo>
                  <a:lnTo>
                    <a:pt x="80726" y="615332"/>
                  </a:lnTo>
                  <a:lnTo>
                    <a:pt x="74976" y="607961"/>
                  </a:lnTo>
                  <a:lnTo>
                    <a:pt x="69594" y="600319"/>
                  </a:lnTo>
                  <a:lnTo>
                    <a:pt x="64210" y="592671"/>
                  </a:lnTo>
                  <a:lnTo>
                    <a:pt x="59205" y="584770"/>
                  </a:lnTo>
                  <a:lnTo>
                    <a:pt x="54202" y="576874"/>
                  </a:lnTo>
                  <a:lnTo>
                    <a:pt x="49594" y="568741"/>
                  </a:lnTo>
                  <a:lnTo>
                    <a:pt x="44984" y="560603"/>
                  </a:lnTo>
                  <a:lnTo>
                    <a:pt x="40779" y="552249"/>
                  </a:lnTo>
                  <a:lnTo>
                    <a:pt x="36578" y="543899"/>
                  </a:lnTo>
                  <a:lnTo>
                    <a:pt x="32790" y="535353"/>
                  </a:lnTo>
                  <a:lnTo>
                    <a:pt x="29001" y="526802"/>
                  </a:lnTo>
                  <a:lnTo>
                    <a:pt x="25634" y="518076"/>
                  </a:lnTo>
                  <a:lnTo>
                    <a:pt x="22268" y="509355"/>
                  </a:lnTo>
                  <a:lnTo>
                    <a:pt x="19335" y="500480"/>
                  </a:lnTo>
                  <a:lnTo>
                    <a:pt x="16400" y="491599"/>
                  </a:lnTo>
                  <a:lnTo>
                    <a:pt x="13907" y="482585"/>
                  </a:lnTo>
                  <a:lnTo>
                    <a:pt x="11415" y="473575"/>
                  </a:lnTo>
                  <a:lnTo>
                    <a:pt x="9368" y="464455"/>
                  </a:lnTo>
                  <a:lnTo>
                    <a:pt x="7320" y="455329"/>
                  </a:lnTo>
                  <a:lnTo>
                    <a:pt x="5720" y="446114"/>
                  </a:lnTo>
                  <a:lnTo>
                    <a:pt x="4120" y="436904"/>
                  </a:lnTo>
                  <a:lnTo>
                    <a:pt x="2975" y="427627"/>
                  </a:lnTo>
                  <a:lnTo>
                    <a:pt x="1829" y="418344"/>
                  </a:lnTo>
                  <a:lnTo>
                    <a:pt x="1142" y="409016"/>
                  </a:lnTo>
                  <a:lnTo>
                    <a:pt x="456" y="399694"/>
                  </a:lnTo>
                  <a:lnTo>
                    <a:pt x="227" y="390350"/>
                  </a:lnTo>
                  <a:lnTo>
                    <a:pt x="0" y="380999"/>
                  </a:lnTo>
                  <a:lnTo>
                    <a:pt x="228" y="371649"/>
                  </a:lnTo>
                  <a:lnTo>
                    <a:pt x="455" y="362304"/>
                  </a:lnTo>
                  <a:lnTo>
                    <a:pt x="5719" y="315885"/>
                  </a:lnTo>
                  <a:lnTo>
                    <a:pt x="9368" y="297544"/>
                  </a:lnTo>
                  <a:lnTo>
                    <a:pt x="11414" y="288423"/>
                  </a:lnTo>
                  <a:lnTo>
                    <a:pt x="13906" y="279414"/>
                  </a:lnTo>
                  <a:lnTo>
                    <a:pt x="16400" y="270399"/>
                  </a:lnTo>
                  <a:lnTo>
                    <a:pt x="19334" y="261518"/>
                  </a:lnTo>
                  <a:lnTo>
                    <a:pt x="22268" y="252643"/>
                  </a:lnTo>
                  <a:lnTo>
                    <a:pt x="25633" y="243922"/>
                  </a:lnTo>
                  <a:lnTo>
                    <a:pt x="29000" y="235196"/>
                  </a:lnTo>
                  <a:lnTo>
                    <a:pt x="32790" y="226646"/>
                  </a:lnTo>
                  <a:lnTo>
                    <a:pt x="36576" y="218099"/>
                  </a:lnTo>
                  <a:lnTo>
                    <a:pt x="59204" y="177228"/>
                  </a:lnTo>
                  <a:lnTo>
                    <a:pt x="69594" y="161679"/>
                  </a:lnTo>
                  <a:lnTo>
                    <a:pt x="74975" y="154036"/>
                  </a:lnTo>
                  <a:lnTo>
                    <a:pt x="105141" y="118364"/>
                  </a:lnTo>
                  <a:lnTo>
                    <a:pt x="118365" y="105141"/>
                  </a:lnTo>
                  <a:lnTo>
                    <a:pt x="125133" y="98694"/>
                  </a:lnTo>
                  <a:lnTo>
                    <a:pt x="161679" y="69593"/>
                  </a:lnTo>
                  <a:lnTo>
                    <a:pt x="177228" y="59204"/>
                  </a:lnTo>
                  <a:lnTo>
                    <a:pt x="185124" y="54201"/>
                  </a:lnTo>
                  <a:lnTo>
                    <a:pt x="226645" y="32789"/>
                  </a:lnTo>
                  <a:lnTo>
                    <a:pt x="243923" y="25633"/>
                  </a:lnTo>
                  <a:lnTo>
                    <a:pt x="252643" y="22267"/>
                  </a:lnTo>
                  <a:lnTo>
                    <a:pt x="297544" y="9368"/>
                  </a:lnTo>
                  <a:lnTo>
                    <a:pt x="315885" y="5720"/>
                  </a:lnTo>
                  <a:lnTo>
                    <a:pt x="325095" y="4120"/>
                  </a:lnTo>
                  <a:lnTo>
                    <a:pt x="371649" y="227"/>
                  </a:lnTo>
                  <a:lnTo>
                    <a:pt x="380999" y="0"/>
                  </a:lnTo>
                </a:path>
              </a:pathLst>
            </a:custGeom>
            <a:ln w="38099">
              <a:solidFill>
                <a:srgbClr val="D9B44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578350" y="8332652"/>
            <a:ext cx="3221355" cy="41275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500" b="1" spc="-175" dirty="0">
                <a:solidFill>
                  <a:srgbClr val="F4EFE3"/>
                </a:solidFill>
                <a:latin typeface="Arial"/>
                <a:cs typeface="Arial"/>
              </a:rPr>
              <a:t>DTIE</a:t>
            </a:r>
            <a:r>
              <a:rPr sz="2500" b="1" spc="-19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500" b="1" spc="-25" dirty="0">
                <a:solidFill>
                  <a:srgbClr val="F4EFE3"/>
                </a:solidFill>
                <a:latin typeface="Arial"/>
                <a:cs typeface="Arial"/>
              </a:rPr>
              <a:t>Project</a:t>
            </a:r>
            <a:r>
              <a:rPr sz="2500" b="1" spc="-13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500" b="1" spc="-60" dirty="0">
                <a:solidFill>
                  <a:srgbClr val="F4EFE3"/>
                </a:solidFill>
                <a:latin typeface="Arial"/>
                <a:cs typeface="Arial"/>
              </a:rPr>
              <a:t>Group</a:t>
            </a:r>
            <a:r>
              <a:rPr sz="2500" b="1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500" b="1" spc="-240" dirty="0">
                <a:solidFill>
                  <a:srgbClr val="F4EFE3"/>
                </a:solidFill>
                <a:latin typeface="Arial"/>
                <a:cs typeface="Arial"/>
              </a:rPr>
              <a:t>:</a:t>
            </a:r>
            <a:r>
              <a:rPr sz="2500" b="1" spc="-16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500" b="1" spc="-550" dirty="0">
                <a:solidFill>
                  <a:srgbClr val="F4EFE3"/>
                </a:solidFill>
                <a:latin typeface="Arial"/>
                <a:cs typeface="Arial"/>
              </a:rPr>
              <a:t>11</a:t>
            </a:r>
            <a:endParaRPr sz="2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239712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B5832A"/>
                </a:solidFill>
                <a:latin typeface="Arial"/>
                <a:cs typeface="Arial"/>
              </a:rPr>
              <a:t>PROJECT</a:t>
            </a:r>
            <a:r>
              <a:rPr sz="2400" b="1" spc="-80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B5832A"/>
                </a:solidFill>
                <a:latin typeface="Arial"/>
                <a:cs typeface="Arial"/>
              </a:rPr>
              <a:t>TEAM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95" dirty="0"/>
              <a:t>Team</a:t>
            </a:r>
            <a:r>
              <a:rPr spc="-805" dirty="0"/>
              <a:t> </a:t>
            </a:r>
            <a:r>
              <a:rPr spc="-725" dirty="0"/>
              <a:t>Members</a:t>
            </a:r>
          </a:p>
        </p:txBody>
      </p:sp>
      <p:sp>
        <p:nvSpPr>
          <p:cNvPr id="5" name="object 5"/>
          <p:cNvSpPr/>
          <p:nvPr/>
        </p:nvSpPr>
        <p:spPr>
          <a:xfrm>
            <a:off x="8382000" y="1333499"/>
            <a:ext cx="4191000" cy="3429000"/>
          </a:xfrm>
          <a:custGeom>
            <a:avLst/>
            <a:gdLst/>
            <a:ahLst/>
            <a:cxnLst/>
            <a:rect l="l" t="t" r="r" b="b"/>
            <a:pathLst>
              <a:path w="4191000" h="3429000">
                <a:moveTo>
                  <a:pt x="3969886" y="3428999"/>
                </a:moveTo>
                <a:lnTo>
                  <a:pt x="221113" y="3428999"/>
                </a:lnTo>
                <a:lnTo>
                  <a:pt x="213644" y="3428632"/>
                </a:lnTo>
                <a:lnTo>
                  <a:pt x="169405" y="3421329"/>
                </a:lnTo>
                <a:lnTo>
                  <a:pt x="127441" y="3405536"/>
                </a:lnTo>
                <a:lnTo>
                  <a:pt x="89365" y="3381859"/>
                </a:lnTo>
                <a:lnTo>
                  <a:pt x="56639" y="3351209"/>
                </a:lnTo>
                <a:lnTo>
                  <a:pt x="30522" y="3314763"/>
                </a:lnTo>
                <a:lnTo>
                  <a:pt x="12016" y="3273923"/>
                </a:lnTo>
                <a:lnTo>
                  <a:pt x="1834" y="3230257"/>
                </a:lnTo>
                <a:lnTo>
                  <a:pt x="0" y="3207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969886" y="0"/>
                </a:lnTo>
                <a:lnTo>
                  <a:pt x="4014340" y="5853"/>
                </a:lnTo>
                <a:lnTo>
                  <a:pt x="4056797" y="20266"/>
                </a:lnTo>
                <a:lnTo>
                  <a:pt x="4095627" y="42685"/>
                </a:lnTo>
                <a:lnTo>
                  <a:pt x="4129338" y="72249"/>
                </a:lnTo>
                <a:lnTo>
                  <a:pt x="4156633" y="107821"/>
                </a:lnTo>
                <a:lnTo>
                  <a:pt x="4176463" y="148035"/>
                </a:lnTo>
                <a:lnTo>
                  <a:pt x="4188067" y="191345"/>
                </a:lnTo>
                <a:lnTo>
                  <a:pt x="4190999" y="221113"/>
                </a:lnTo>
                <a:lnTo>
                  <a:pt x="4190999" y="3207886"/>
                </a:lnTo>
                <a:lnTo>
                  <a:pt x="4185145" y="3252340"/>
                </a:lnTo>
                <a:lnTo>
                  <a:pt x="4170732" y="3294797"/>
                </a:lnTo>
                <a:lnTo>
                  <a:pt x="4148313" y="3333628"/>
                </a:lnTo>
                <a:lnTo>
                  <a:pt x="4118749" y="3367338"/>
                </a:lnTo>
                <a:lnTo>
                  <a:pt x="4083177" y="3394633"/>
                </a:lnTo>
                <a:lnTo>
                  <a:pt x="4042963" y="3414463"/>
                </a:lnTo>
                <a:lnTo>
                  <a:pt x="3999653" y="3426067"/>
                </a:lnTo>
                <a:lnTo>
                  <a:pt x="3977355" y="3428632"/>
                </a:lnTo>
                <a:lnTo>
                  <a:pt x="3969886" y="34289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788400" y="3401857"/>
            <a:ext cx="1955800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60" dirty="0">
                <a:solidFill>
                  <a:srgbClr val="F4EFE3"/>
                </a:solidFill>
                <a:latin typeface="Arial"/>
                <a:cs typeface="Arial"/>
              </a:rPr>
              <a:t>B.Rishith </a:t>
            </a:r>
            <a:r>
              <a:rPr sz="2800" spc="-55" dirty="0">
                <a:solidFill>
                  <a:srgbClr val="F4EFE3"/>
                </a:solidFill>
                <a:latin typeface="Arial"/>
                <a:cs typeface="Arial"/>
              </a:rPr>
              <a:t>2620030021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2953999" y="1333499"/>
            <a:ext cx="4191000" cy="3429000"/>
          </a:xfrm>
          <a:custGeom>
            <a:avLst/>
            <a:gdLst/>
            <a:ahLst/>
            <a:cxnLst/>
            <a:rect l="l" t="t" r="r" b="b"/>
            <a:pathLst>
              <a:path w="4191000" h="3429000">
                <a:moveTo>
                  <a:pt x="3969886" y="3428999"/>
                </a:moveTo>
                <a:lnTo>
                  <a:pt x="221113" y="3428999"/>
                </a:lnTo>
                <a:lnTo>
                  <a:pt x="213644" y="3428632"/>
                </a:lnTo>
                <a:lnTo>
                  <a:pt x="169405" y="3421329"/>
                </a:lnTo>
                <a:lnTo>
                  <a:pt x="127441" y="3405536"/>
                </a:lnTo>
                <a:lnTo>
                  <a:pt x="89365" y="3381859"/>
                </a:lnTo>
                <a:lnTo>
                  <a:pt x="56639" y="3351209"/>
                </a:lnTo>
                <a:lnTo>
                  <a:pt x="30522" y="3314763"/>
                </a:lnTo>
                <a:lnTo>
                  <a:pt x="12016" y="3273923"/>
                </a:lnTo>
                <a:lnTo>
                  <a:pt x="1834" y="3230257"/>
                </a:lnTo>
                <a:lnTo>
                  <a:pt x="0" y="3207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969886" y="0"/>
                </a:lnTo>
                <a:lnTo>
                  <a:pt x="4014340" y="5853"/>
                </a:lnTo>
                <a:lnTo>
                  <a:pt x="4056797" y="20266"/>
                </a:lnTo>
                <a:lnTo>
                  <a:pt x="4095627" y="42685"/>
                </a:lnTo>
                <a:lnTo>
                  <a:pt x="4129338" y="72249"/>
                </a:lnTo>
                <a:lnTo>
                  <a:pt x="4156633" y="107821"/>
                </a:lnTo>
                <a:lnTo>
                  <a:pt x="4176463" y="148035"/>
                </a:lnTo>
                <a:lnTo>
                  <a:pt x="4188067" y="191345"/>
                </a:lnTo>
                <a:lnTo>
                  <a:pt x="4190999" y="221113"/>
                </a:lnTo>
                <a:lnTo>
                  <a:pt x="4190999" y="3207886"/>
                </a:lnTo>
                <a:lnTo>
                  <a:pt x="4185145" y="3252340"/>
                </a:lnTo>
                <a:lnTo>
                  <a:pt x="4170732" y="3294797"/>
                </a:lnTo>
                <a:lnTo>
                  <a:pt x="4148313" y="3333628"/>
                </a:lnTo>
                <a:lnTo>
                  <a:pt x="4118749" y="3367338"/>
                </a:lnTo>
                <a:lnTo>
                  <a:pt x="4083177" y="3394633"/>
                </a:lnTo>
                <a:lnTo>
                  <a:pt x="4042963" y="3414463"/>
                </a:lnTo>
                <a:lnTo>
                  <a:pt x="3999653" y="3426067"/>
                </a:lnTo>
                <a:lnTo>
                  <a:pt x="3977355" y="3428632"/>
                </a:lnTo>
                <a:lnTo>
                  <a:pt x="3969886" y="34289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3360400" y="3401857"/>
            <a:ext cx="2078989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K.Aditya </a:t>
            </a:r>
            <a:r>
              <a:rPr sz="2800" spc="45" dirty="0">
                <a:solidFill>
                  <a:srgbClr val="163A26"/>
                </a:solidFill>
                <a:latin typeface="Arial"/>
                <a:cs typeface="Arial"/>
              </a:rPr>
              <a:t>2620090002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8382000" y="5143499"/>
            <a:ext cx="4191000" cy="3429000"/>
          </a:xfrm>
          <a:custGeom>
            <a:avLst/>
            <a:gdLst/>
            <a:ahLst/>
            <a:cxnLst/>
            <a:rect l="l" t="t" r="r" b="b"/>
            <a:pathLst>
              <a:path w="4191000" h="3429000">
                <a:moveTo>
                  <a:pt x="3969886" y="3428999"/>
                </a:moveTo>
                <a:lnTo>
                  <a:pt x="221113" y="3428999"/>
                </a:lnTo>
                <a:lnTo>
                  <a:pt x="213644" y="3428632"/>
                </a:lnTo>
                <a:lnTo>
                  <a:pt x="169405" y="3421329"/>
                </a:lnTo>
                <a:lnTo>
                  <a:pt x="127441" y="3405536"/>
                </a:lnTo>
                <a:lnTo>
                  <a:pt x="89365" y="3381859"/>
                </a:lnTo>
                <a:lnTo>
                  <a:pt x="56639" y="3351209"/>
                </a:lnTo>
                <a:lnTo>
                  <a:pt x="30522" y="3314763"/>
                </a:lnTo>
                <a:lnTo>
                  <a:pt x="12016" y="3273923"/>
                </a:lnTo>
                <a:lnTo>
                  <a:pt x="1834" y="3230257"/>
                </a:lnTo>
                <a:lnTo>
                  <a:pt x="0" y="3207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969886" y="0"/>
                </a:lnTo>
                <a:lnTo>
                  <a:pt x="4014340" y="5853"/>
                </a:lnTo>
                <a:lnTo>
                  <a:pt x="4056797" y="20266"/>
                </a:lnTo>
                <a:lnTo>
                  <a:pt x="4095627" y="42685"/>
                </a:lnTo>
                <a:lnTo>
                  <a:pt x="4129338" y="72249"/>
                </a:lnTo>
                <a:lnTo>
                  <a:pt x="4156633" y="107821"/>
                </a:lnTo>
                <a:lnTo>
                  <a:pt x="4176463" y="148035"/>
                </a:lnTo>
                <a:lnTo>
                  <a:pt x="4188067" y="191345"/>
                </a:lnTo>
                <a:lnTo>
                  <a:pt x="4190999" y="221113"/>
                </a:lnTo>
                <a:lnTo>
                  <a:pt x="4190999" y="3207886"/>
                </a:lnTo>
                <a:lnTo>
                  <a:pt x="4185145" y="3252340"/>
                </a:lnTo>
                <a:lnTo>
                  <a:pt x="4170732" y="3294797"/>
                </a:lnTo>
                <a:lnTo>
                  <a:pt x="4148313" y="3333628"/>
                </a:lnTo>
                <a:lnTo>
                  <a:pt x="4118749" y="3367338"/>
                </a:lnTo>
                <a:lnTo>
                  <a:pt x="4083177" y="3394633"/>
                </a:lnTo>
                <a:lnTo>
                  <a:pt x="4042963" y="3414463"/>
                </a:lnTo>
                <a:lnTo>
                  <a:pt x="3999653" y="3426067"/>
                </a:lnTo>
                <a:lnTo>
                  <a:pt x="3977355" y="3428632"/>
                </a:lnTo>
                <a:lnTo>
                  <a:pt x="3969886" y="34289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788400" y="7211857"/>
            <a:ext cx="207073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25" dirty="0">
                <a:solidFill>
                  <a:srgbClr val="163A26"/>
                </a:solidFill>
                <a:latin typeface="Arial"/>
                <a:cs typeface="Arial"/>
              </a:rPr>
              <a:t>N.Varun </a:t>
            </a:r>
            <a:r>
              <a:rPr sz="2800" spc="35" dirty="0">
                <a:solidFill>
                  <a:srgbClr val="163A26"/>
                </a:solidFill>
                <a:latin typeface="Arial"/>
                <a:cs typeface="Arial"/>
              </a:rPr>
              <a:t>2620040048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2953999" y="5143499"/>
            <a:ext cx="4191000" cy="3429000"/>
          </a:xfrm>
          <a:custGeom>
            <a:avLst/>
            <a:gdLst/>
            <a:ahLst/>
            <a:cxnLst/>
            <a:rect l="l" t="t" r="r" b="b"/>
            <a:pathLst>
              <a:path w="4191000" h="3429000">
                <a:moveTo>
                  <a:pt x="3969886" y="3428999"/>
                </a:moveTo>
                <a:lnTo>
                  <a:pt x="221113" y="3428999"/>
                </a:lnTo>
                <a:lnTo>
                  <a:pt x="213644" y="3428632"/>
                </a:lnTo>
                <a:lnTo>
                  <a:pt x="169405" y="3421329"/>
                </a:lnTo>
                <a:lnTo>
                  <a:pt x="127441" y="3405536"/>
                </a:lnTo>
                <a:lnTo>
                  <a:pt x="89365" y="3381859"/>
                </a:lnTo>
                <a:lnTo>
                  <a:pt x="56639" y="3351209"/>
                </a:lnTo>
                <a:lnTo>
                  <a:pt x="30522" y="3314763"/>
                </a:lnTo>
                <a:lnTo>
                  <a:pt x="12016" y="3273923"/>
                </a:lnTo>
                <a:lnTo>
                  <a:pt x="1834" y="3230257"/>
                </a:lnTo>
                <a:lnTo>
                  <a:pt x="0" y="3207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969886" y="0"/>
                </a:lnTo>
                <a:lnTo>
                  <a:pt x="4014340" y="5853"/>
                </a:lnTo>
                <a:lnTo>
                  <a:pt x="4056797" y="20266"/>
                </a:lnTo>
                <a:lnTo>
                  <a:pt x="4095627" y="42685"/>
                </a:lnTo>
                <a:lnTo>
                  <a:pt x="4129338" y="72249"/>
                </a:lnTo>
                <a:lnTo>
                  <a:pt x="4156633" y="107821"/>
                </a:lnTo>
                <a:lnTo>
                  <a:pt x="4176463" y="148035"/>
                </a:lnTo>
                <a:lnTo>
                  <a:pt x="4188067" y="191345"/>
                </a:lnTo>
                <a:lnTo>
                  <a:pt x="4190999" y="221113"/>
                </a:lnTo>
                <a:lnTo>
                  <a:pt x="4190999" y="3207886"/>
                </a:lnTo>
                <a:lnTo>
                  <a:pt x="4185145" y="3252340"/>
                </a:lnTo>
                <a:lnTo>
                  <a:pt x="4170732" y="3294797"/>
                </a:lnTo>
                <a:lnTo>
                  <a:pt x="4148313" y="3333628"/>
                </a:lnTo>
                <a:lnTo>
                  <a:pt x="4118749" y="3367338"/>
                </a:lnTo>
                <a:lnTo>
                  <a:pt x="4083177" y="3394633"/>
                </a:lnTo>
                <a:lnTo>
                  <a:pt x="4042963" y="3414463"/>
                </a:lnTo>
                <a:lnTo>
                  <a:pt x="3999653" y="3426067"/>
                </a:lnTo>
                <a:lnTo>
                  <a:pt x="3977355" y="3428632"/>
                </a:lnTo>
                <a:lnTo>
                  <a:pt x="3969886" y="34289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3360400" y="7211857"/>
            <a:ext cx="3348990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150" dirty="0">
                <a:solidFill>
                  <a:srgbClr val="163A26"/>
                </a:solidFill>
                <a:latin typeface="Arial"/>
                <a:cs typeface="Arial"/>
              </a:rPr>
              <a:t>Sri</a:t>
            </a:r>
            <a:r>
              <a:rPr sz="2800" b="1" spc="-19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135" dirty="0">
                <a:solidFill>
                  <a:srgbClr val="163A26"/>
                </a:solidFill>
                <a:latin typeface="Arial"/>
                <a:cs typeface="Arial"/>
              </a:rPr>
              <a:t>Vishwa</a:t>
            </a:r>
            <a:r>
              <a:rPr sz="2800" b="1" spc="-16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163A26"/>
                </a:solidFill>
                <a:latin typeface="Arial"/>
                <a:cs typeface="Arial"/>
              </a:rPr>
              <a:t>Chaitanya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2620090036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0300" y="1120165"/>
            <a:ext cx="328993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B5832A"/>
                </a:solidFill>
                <a:latin typeface="Arial"/>
                <a:cs typeface="Arial"/>
              </a:rPr>
              <a:t>VISION</a:t>
            </a:r>
            <a:r>
              <a:rPr sz="2400" b="1" spc="29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B5832A"/>
                </a:solidFill>
                <a:latin typeface="Arial"/>
                <a:cs typeface="Arial"/>
              </a:rPr>
              <a:t>AND</a:t>
            </a:r>
            <a:r>
              <a:rPr sz="2400" b="1" spc="27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B5832A"/>
                </a:solidFill>
                <a:latin typeface="Arial"/>
                <a:cs typeface="Arial"/>
              </a:rPr>
              <a:t>MISSION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143000" y="2095500"/>
            <a:ext cx="7810500" cy="6858000"/>
          </a:xfrm>
          <a:custGeom>
            <a:avLst/>
            <a:gdLst/>
            <a:ahLst/>
            <a:cxnLst/>
            <a:rect l="l" t="t" r="r" b="b"/>
            <a:pathLst>
              <a:path w="7810500" h="6858000">
                <a:moveTo>
                  <a:pt x="7589386" y="6857999"/>
                </a:moveTo>
                <a:lnTo>
                  <a:pt x="221113" y="6857999"/>
                </a:lnTo>
                <a:lnTo>
                  <a:pt x="213644" y="6857632"/>
                </a:lnTo>
                <a:lnTo>
                  <a:pt x="169405" y="6850330"/>
                </a:lnTo>
                <a:lnTo>
                  <a:pt x="127441" y="6834536"/>
                </a:lnTo>
                <a:lnTo>
                  <a:pt x="89365" y="6810859"/>
                </a:lnTo>
                <a:lnTo>
                  <a:pt x="56639" y="6780208"/>
                </a:lnTo>
                <a:lnTo>
                  <a:pt x="30522" y="6743763"/>
                </a:lnTo>
                <a:lnTo>
                  <a:pt x="12016" y="6702922"/>
                </a:lnTo>
                <a:lnTo>
                  <a:pt x="1834" y="6659257"/>
                </a:lnTo>
                <a:lnTo>
                  <a:pt x="0" y="6636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7589386" y="0"/>
                </a:lnTo>
                <a:lnTo>
                  <a:pt x="7633839" y="5853"/>
                </a:lnTo>
                <a:lnTo>
                  <a:pt x="7676298" y="20266"/>
                </a:lnTo>
                <a:lnTo>
                  <a:pt x="7715127" y="42685"/>
                </a:lnTo>
                <a:lnTo>
                  <a:pt x="7748838" y="72249"/>
                </a:lnTo>
                <a:lnTo>
                  <a:pt x="7776132" y="107821"/>
                </a:lnTo>
                <a:lnTo>
                  <a:pt x="7795963" y="148035"/>
                </a:lnTo>
                <a:lnTo>
                  <a:pt x="7807567" y="191345"/>
                </a:lnTo>
                <a:lnTo>
                  <a:pt x="7810499" y="221113"/>
                </a:lnTo>
                <a:lnTo>
                  <a:pt x="7810499" y="6636886"/>
                </a:lnTo>
                <a:lnTo>
                  <a:pt x="7804646" y="6681339"/>
                </a:lnTo>
                <a:lnTo>
                  <a:pt x="7790233" y="6723797"/>
                </a:lnTo>
                <a:lnTo>
                  <a:pt x="7767814" y="6762627"/>
                </a:lnTo>
                <a:lnTo>
                  <a:pt x="7738250" y="6796338"/>
                </a:lnTo>
                <a:lnTo>
                  <a:pt x="7702678" y="6823632"/>
                </a:lnTo>
                <a:lnTo>
                  <a:pt x="7662464" y="6843463"/>
                </a:lnTo>
                <a:lnTo>
                  <a:pt x="7619154" y="6855067"/>
                </a:lnTo>
                <a:lnTo>
                  <a:pt x="7596855" y="6857632"/>
                </a:lnTo>
                <a:lnTo>
                  <a:pt x="7589386" y="68579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9334499" y="2095500"/>
            <a:ext cx="7810500" cy="6858000"/>
          </a:xfrm>
          <a:custGeom>
            <a:avLst/>
            <a:gdLst/>
            <a:ahLst/>
            <a:cxnLst/>
            <a:rect l="l" t="t" r="r" b="b"/>
            <a:pathLst>
              <a:path w="7810500" h="6858000">
                <a:moveTo>
                  <a:pt x="7589386" y="6857999"/>
                </a:moveTo>
                <a:lnTo>
                  <a:pt x="221113" y="6857999"/>
                </a:lnTo>
                <a:lnTo>
                  <a:pt x="213644" y="6857632"/>
                </a:lnTo>
                <a:lnTo>
                  <a:pt x="169405" y="6850330"/>
                </a:lnTo>
                <a:lnTo>
                  <a:pt x="127441" y="6834536"/>
                </a:lnTo>
                <a:lnTo>
                  <a:pt x="89365" y="6810859"/>
                </a:lnTo>
                <a:lnTo>
                  <a:pt x="56639" y="6780208"/>
                </a:lnTo>
                <a:lnTo>
                  <a:pt x="30522" y="6743763"/>
                </a:lnTo>
                <a:lnTo>
                  <a:pt x="12016" y="6702922"/>
                </a:lnTo>
                <a:lnTo>
                  <a:pt x="1834" y="6659257"/>
                </a:lnTo>
                <a:lnTo>
                  <a:pt x="0" y="6636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7589386" y="0"/>
                </a:lnTo>
                <a:lnTo>
                  <a:pt x="7633839" y="5853"/>
                </a:lnTo>
                <a:lnTo>
                  <a:pt x="7676298" y="20266"/>
                </a:lnTo>
                <a:lnTo>
                  <a:pt x="7715127" y="42685"/>
                </a:lnTo>
                <a:lnTo>
                  <a:pt x="7748838" y="72249"/>
                </a:lnTo>
                <a:lnTo>
                  <a:pt x="7776132" y="107821"/>
                </a:lnTo>
                <a:lnTo>
                  <a:pt x="7795963" y="148035"/>
                </a:lnTo>
                <a:lnTo>
                  <a:pt x="7807567" y="191345"/>
                </a:lnTo>
                <a:lnTo>
                  <a:pt x="7810499" y="221113"/>
                </a:lnTo>
                <a:lnTo>
                  <a:pt x="7810499" y="6636886"/>
                </a:lnTo>
                <a:lnTo>
                  <a:pt x="7804646" y="6681339"/>
                </a:lnTo>
                <a:lnTo>
                  <a:pt x="7790233" y="6723797"/>
                </a:lnTo>
                <a:lnTo>
                  <a:pt x="7767814" y="6762627"/>
                </a:lnTo>
                <a:lnTo>
                  <a:pt x="7738250" y="6796338"/>
                </a:lnTo>
                <a:lnTo>
                  <a:pt x="7702678" y="6823632"/>
                </a:lnTo>
                <a:lnTo>
                  <a:pt x="7662464" y="6843463"/>
                </a:lnTo>
                <a:lnTo>
                  <a:pt x="7619154" y="6855067"/>
                </a:lnTo>
                <a:lnTo>
                  <a:pt x="7596855" y="6857632"/>
                </a:lnTo>
                <a:lnTo>
                  <a:pt x="7589386" y="68579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797050" y="2739415"/>
            <a:ext cx="109156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D9B44A"/>
                </a:solidFill>
                <a:latin typeface="Arial"/>
                <a:cs typeface="Arial"/>
              </a:rPr>
              <a:t>VISION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97050" y="3490599"/>
            <a:ext cx="6123305" cy="211963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marR="5080" algn="just">
              <a:lnSpc>
                <a:spcPts val="5170"/>
              </a:lnSpc>
              <a:spcBef>
                <a:spcPts val="1075"/>
              </a:spcBef>
            </a:pPr>
            <a:r>
              <a:rPr sz="5100" b="1" spc="-580" dirty="0">
                <a:solidFill>
                  <a:srgbClr val="F4EFE3"/>
                </a:solidFill>
                <a:latin typeface="Tahoma"/>
                <a:cs typeface="Tahoma"/>
              </a:rPr>
              <a:t>Farming</a:t>
            </a:r>
            <a:r>
              <a:rPr sz="5100" b="1" spc="204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565" dirty="0">
                <a:solidFill>
                  <a:srgbClr val="F4EFE3"/>
                </a:solidFill>
                <a:latin typeface="Tahoma"/>
                <a:cs typeface="Tahoma"/>
              </a:rPr>
              <a:t>decisions</a:t>
            </a:r>
            <a:r>
              <a:rPr sz="5100" b="1" spc="245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509" dirty="0">
                <a:solidFill>
                  <a:srgbClr val="F4EFE3"/>
                </a:solidFill>
                <a:latin typeface="Tahoma"/>
                <a:cs typeface="Tahoma"/>
              </a:rPr>
              <a:t>that </a:t>
            </a:r>
            <a:r>
              <a:rPr sz="5100" b="1" spc="-860" dirty="0">
                <a:solidFill>
                  <a:srgbClr val="F4EFE3"/>
                </a:solidFill>
                <a:latin typeface="Tahoma"/>
                <a:cs typeface="Tahoma"/>
              </a:rPr>
              <a:t>are</a:t>
            </a:r>
            <a:r>
              <a:rPr sz="5100" b="1" spc="484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550" dirty="0">
                <a:solidFill>
                  <a:srgbClr val="F4EFE3"/>
                </a:solidFill>
                <a:latin typeface="Tahoma"/>
                <a:cs typeface="Tahoma"/>
              </a:rPr>
              <a:t>clearer,</a:t>
            </a:r>
            <a:r>
              <a:rPr sz="5100" b="1" spc="200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765" dirty="0">
                <a:solidFill>
                  <a:srgbClr val="F4EFE3"/>
                </a:solidFill>
                <a:latin typeface="Tahoma"/>
                <a:cs typeface="Tahoma"/>
              </a:rPr>
              <a:t>more</a:t>
            </a:r>
            <a:r>
              <a:rPr sz="5100" b="1" spc="390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480" dirty="0">
                <a:solidFill>
                  <a:srgbClr val="F4EFE3"/>
                </a:solidFill>
                <a:latin typeface="Tahoma"/>
                <a:cs typeface="Tahoma"/>
              </a:rPr>
              <a:t>local, </a:t>
            </a:r>
            <a:r>
              <a:rPr sz="5100" b="1" spc="-495" dirty="0">
                <a:solidFill>
                  <a:srgbClr val="F4EFE3"/>
                </a:solidFill>
                <a:latin typeface="Tahoma"/>
                <a:cs typeface="Tahoma"/>
              </a:rPr>
              <a:t>and</a:t>
            </a:r>
            <a:r>
              <a:rPr sz="5100" b="1" spc="-715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495" dirty="0">
                <a:solidFill>
                  <a:srgbClr val="F4EFE3"/>
                </a:solidFill>
                <a:latin typeface="Tahoma"/>
                <a:cs typeface="Tahoma"/>
              </a:rPr>
              <a:t>more</a:t>
            </a:r>
            <a:r>
              <a:rPr sz="5100" b="1" spc="-690" dirty="0">
                <a:solidFill>
                  <a:srgbClr val="F4EFE3"/>
                </a:solidFill>
                <a:latin typeface="Tahoma"/>
                <a:cs typeface="Tahoma"/>
              </a:rPr>
              <a:t> </a:t>
            </a:r>
            <a:r>
              <a:rPr sz="5100" b="1" spc="-425" dirty="0">
                <a:solidFill>
                  <a:srgbClr val="F4EFE3"/>
                </a:solidFill>
                <a:latin typeface="Tahoma"/>
                <a:cs typeface="Tahoma"/>
              </a:rPr>
              <a:t>resilient.</a:t>
            </a:r>
            <a:endParaRPr sz="5100" dirty="0">
              <a:latin typeface="Tahoma"/>
              <a:cs typeface="Tahom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9988549" y="2739415"/>
            <a:ext cx="134302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10" dirty="0">
                <a:solidFill>
                  <a:srgbClr val="163A26"/>
                </a:solidFill>
                <a:latin typeface="Arial"/>
                <a:cs typeface="Arial"/>
              </a:rPr>
              <a:t>MISSION</a:t>
            </a:r>
            <a:endParaRPr sz="24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988549" y="3490599"/>
            <a:ext cx="6418580" cy="277685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12700" marR="1207135">
              <a:lnSpc>
                <a:spcPts val="5170"/>
              </a:lnSpc>
              <a:spcBef>
                <a:spcPts val="1075"/>
              </a:spcBef>
            </a:pPr>
            <a:r>
              <a:rPr sz="5100" b="1" spc="-305" dirty="0">
                <a:solidFill>
                  <a:srgbClr val="163A26"/>
                </a:solidFill>
                <a:latin typeface="Tahoma"/>
                <a:cs typeface="Tahoma"/>
              </a:rPr>
              <a:t>Turn</a:t>
            </a:r>
            <a:r>
              <a:rPr sz="5100" b="1" spc="-665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455" dirty="0">
                <a:solidFill>
                  <a:srgbClr val="163A26"/>
                </a:solidFill>
                <a:latin typeface="Tahoma"/>
                <a:cs typeface="Tahoma"/>
              </a:rPr>
              <a:t>soil,</a:t>
            </a:r>
            <a:r>
              <a:rPr sz="5100" b="1" spc="-30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640" dirty="0">
                <a:solidFill>
                  <a:srgbClr val="163A26"/>
                </a:solidFill>
                <a:latin typeface="Tahoma"/>
                <a:cs typeface="Tahoma"/>
              </a:rPr>
              <a:t>weather, </a:t>
            </a:r>
            <a:r>
              <a:rPr sz="5100" b="1" spc="-600" dirty="0">
                <a:solidFill>
                  <a:srgbClr val="163A26"/>
                </a:solidFill>
                <a:latin typeface="Tahoma"/>
                <a:cs typeface="Tahoma"/>
              </a:rPr>
              <a:t>season,</a:t>
            </a:r>
            <a:r>
              <a:rPr sz="5100" b="1" spc="-29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495" dirty="0">
                <a:solidFill>
                  <a:srgbClr val="163A26"/>
                </a:solidFill>
                <a:latin typeface="Tahoma"/>
                <a:cs typeface="Tahoma"/>
              </a:rPr>
              <a:t>and</a:t>
            </a:r>
            <a:r>
              <a:rPr sz="5100" b="1" spc="-71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495" dirty="0">
                <a:solidFill>
                  <a:srgbClr val="163A26"/>
                </a:solidFill>
                <a:latin typeface="Tahoma"/>
                <a:cs typeface="Tahoma"/>
              </a:rPr>
              <a:t>market</a:t>
            </a:r>
            <a:endParaRPr sz="5100">
              <a:latin typeface="Tahoma"/>
              <a:cs typeface="Tahoma"/>
            </a:endParaRPr>
          </a:p>
          <a:p>
            <a:pPr marL="12700" marR="5080">
              <a:lnSpc>
                <a:spcPts val="5180"/>
              </a:lnSpc>
              <a:spcBef>
                <a:spcPts val="5"/>
              </a:spcBef>
            </a:pPr>
            <a:r>
              <a:rPr sz="5100" b="1" spc="-509" dirty="0">
                <a:solidFill>
                  <a:srgbClr val="163A26"/>
                </a:solidFill>
                <a:latin typeface="Tahoma"/>
                <a:cs typeface="Tahoma"/>
              </a:rPr>
              <a:t>signals</a:t>
            </a:r>
            <a:r>
              <a:rPr sz="5100" b="1" spc="-36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409" dirty="0">
                <a:solidFill>
                  <a:srgbClr val="163A26"/>
                </a:solidFill>
                <a:latin typeface="Tahoma"/>
                <a:cs typeface="Tahoma"/>
              </a:rPr>
              <a:t>into</a:t>
            </a:r>
            <a:r>
              <a:rPr sz="5100" b="1" spc="-67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415" dirty="0">
                <a:solidFill>
                  <a:srgbClr val="163A26"/>
                </a:solidFill>
                <a:latin typeface="Tahoma"/>
                <a:cs typeface="Tahoma"/>
              </a:rPr>
              <a:t>practical </a:t>
            </a:r>
            <a:r>
              <a:rPr sz="5100" b="1" spc="-395" dirty="0">
                <a:solidFill>
                  <a:srgbClr val="163A26"/>
                </a:solidFill>
                <a:latin typeface="Tahoma"/>
                <a:cs typeface="Tahoma"/>
              </a:rPr>
              <a:t>crop</a:t>
            </a:r>
            <a:r>
              <a:rPr sz="5100" b="1" spc="-665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5100" b="1" spc="-520" dirty="0">
                <a:solidFill>
                  <a:srgbClr val="163A26"/>
                </a:solidFill>
                <a:latin typeface="Tahoma"/>
                <a:cs typeface="Tahoma"/>
              </a:rPr>
              <a:t>recommendations.</a:t>
            </a:r>
            <a:endParaRPr sz="5100">
              <a:latin typeface="Tahoma"/>
              <a:cs typeface="Tahoma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7238999" cy="1028699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178800" y="1120165"/>
            <a:ext cx="34290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40" dirty="0">
                <a:solidFill>
                  <a:srgbClr val="B5832A"/>
                </a:solidFill>
                <a:latin typeface="Arial"/>
                <a:cs typeface="Arial"/>
              </a:rPr>
              <a:t>PROBLEM</a:t>
            </a:r>
            <a:r>
              <a:rPr sz="2400" b="1" spc="-30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B5832A"/>
                </a:solidFill>
                <a:latin typeface="Arial"/>
                <a:cs typeface="Arial"/>
              </a:rPr>
              <a:t>STATEMENT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 descr="$PPTXTitle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 marR="5080">
              <a:lnSpc>
                <a:spcPts val="5180"/>
              </a:lnSpc>
              <a:spcBef>
                <a:spcPts val="1070"/>
              </a:spcBef>
            </a:pPr>
            <a:r>
              <a:rPr spc="-500" dirty="0"/>
              <a:t>Farmers</a:t>
            </a:r>
            <a:r>
              <a:rPr spc="-365" dirty="0"/>
              <a:t> </a:t>
            </a:r>
            <a:r>
              <a:rPr spc="-490" dirty="0"/>
              <a:t>often</a:t>
            </a:r>
            <a:r>
              <a:rPr spc="-650" dirty="0"/>
              <a:t> </a:t>
            </a:r>
            <a:r>
              <a:rPr spc="-535" dirty="0"/>
              <a:t>choose</a:t>
            </a:r>
            <a:r>
              <a:rPr spc="-690" dirty="0"/>
              <a:t> </a:t>
            </a:r>
            <a:r>
              <a:rPr spc="-484" dirty="0"/>
              <a:t>crops</a:t>
            </a:r>
            <a:r>
              <a:rPr spc="-360" dirty="0"/>
              <a:t> </a:t>
            </a:r>
            <a:r>
              <a:rPr spc="-530" dirty="0"/>
              <a:t>with </a:t>
            </a:r>
            <a:r>
              <a:rPr spc="-490" dirty="0"/>
              <a:t>incomplete</a:t>
            </a:r>
            <a:r>
              <a:rPr spc="-690" dirty="0"/>
              <a:t> </a:t>
            </a:r>
            <a:r>
              <a:rPr spc="-310" dirty="0"/>
              <a:t>or</a:t>
            </a:r>
            <a:r>
              <a:rPr spc="-665" dirty="0"/>
              <a:t> </a:t>
            </a:r>
            <a:r>
              <a:rPr spc="-520" dirty="0"/>
              <a:t>disconnected </a:t>
            </a:r>
            <a:r>
              <a:rPr spc="-430" dirty="0"/>
              <a:t>information.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178800" y="4506757"/>
            <a:ext cx="7911465" cy="14351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60"/>
              </a:spcBef>
            </a:pP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Soil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and</a:t>
            </a:r>
            <a:r>
              <a:rPr sz="2800" spc="-1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2E3B33"/>
                </a:solidFill>
                <a:latin typeface="Arial"/>
                <a:cs typeface="Arial"/>
              </a:rPr>
              <a:t>weather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2E3B33"/>
                </a:solidFill>
                <a:latin typeface="Arial"/>
                <a:cs typeface="Arial"/>
              </a:rPr>
              <a:t>variability</a:t>
            </a: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2E3B33"/>
                </a:solidFill>
                <a:latin typeface="Arial"/>
                <a:cs typeface="Arial"/>
              </a:rPr>
              <a:t>can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change</a:t>
            </a:r>
            <a:r>
              <a:rPr sz="2800" spc="-1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2E3B33"/>
                </a:solidFill>
                <a:latin typeface="Arial"/>
                <a:cs typeface="Arial"/>
              </a:rPr>
              <a:t>what</a:t>
            </a:r>
            <a:r>
              <a:rPr sz="2800" spc="-1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2E3B33"/>
                </a:solidFill>
                <a:latin typeface="Arial"/>
                <a:cs typeface="Arial"/>
              </a:rPr>
              <a:t>will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grow </a:t>
            </a: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well, </a:t>
            </a:r>
            <a:r>
              <a:rPr sz="2800" spc="-85" dirty="0">
                <a:solidFill>
                  <a:srgbClr val="2E3B33"/>
                </a:solidFill>
                <a:latin typeface="Arial"/>
                <a:cs typeface="Arial"/>
              </a:rPr>
              <a:t>while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2E3B33"/>
                </a:solidFill>
                <a:latin typeface="Arial"/>
                <a:cs typeface="Arial"/>
              </a:rPr>
              <a:t>seasonality</a:t>
            </a: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and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market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2E3B33"/>
                </a:solidFill>
                <a:latin typeface="Arial"/>
                <a:cs typeface="Arial"/>
              </a:rPr>
              <a:t>uncertainty</a:t>
            </a: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2E3B33"/>
                </a:solidFill>
                <a:latin typeface="Arial"/>
                <a:cs typeface="Arial"/>
              </a:rPr>
              <a:t>can 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increase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financial</a:t>
            </a:r>
            <a:r>
              <a:rPr sz="2800" spc="-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risk.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91500" y="6476999"/>
            <a:ext cx="8953500" cy="1905000"/>
          </a:xfrm>
          <a:custGeom>
            <a:avLst/>
            <a:gdLst/>
            <a:ahLst/>
            <a:cxnLst/>
            <a:rect l="l" t="t" r="r" b="b"/>
            <a:pathLst>
              <a:path w="8953500" h="1905000">
                <a:moveTo>
                  <a:pt x="8732386" y="1904999"/>
                </a:moveTo>
                <a:lnTo>
                  <a:pt x="221113" y="1904999"/>
                </a:lnTo>
                <a:lnTo>
                  <a:pt x="213644" y="1904632"/>
                </a:lnTo>
                <a:lnTo>
                  <a:pt x="169405" y="1897329"/>
                </a:lnTo>
                <a:lnTo>
                  <a:pt x="127441" y="1881536"/>
                </a:lnTo>
                <a:lnTo>
                  <a:pt x="89365" y="1857859"/>
                </a:lnTo>
                <a:lnTo>
                  <a:pt x="56639" y="1827209"/>
                </a:lnTo>
                <a:lnTo>
                  <a:pt x="30522" y="1790763"/>
                </a:lnTo>
                <a:lnTo>
                  <a:pt x="12016" y="1749923"/>
                </a:lnTo>
                <a:lnTo>
                  <a:pt x="1834" y="1706257"/>
                </a:lnTo>
                <a:lnTo>
                  <a:pt x="0" y="1683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8732386" y="0"/>
                </a:lnTo>
                <a:lnTo>
                  <a:pt x="8776839" y="5853"/>
                </a:lnTo>
                <a:lnTo>
                  <a:pt x="8819297" y="20266"/>
                </a:lnTo>
                <a:lnTo>
                  <a:pt x="8858127" y="42685"/>
                </a:lnTo>
                <a:lnTo>
                  <a:pt x="8891837" y="72249"/>
                </a:lnTo>
                <a:lnTo>
                  <a:pt x="8919132" y="107821"/>
                </a:lnTo>
                <a:lnTo>
                  <a:pt x="8938962" y="148035"/>
                </a:lnTo>
                <a:lnTo>
                  <a:pt x="8950567" y="191345"/>
                </a:lnTo>
                <a:lnTo>
                  <a:pt x="8953499" y="221113"/>
                </a:lnTo>
                <a:lnTo>
                  <a:pt x="8953499" y="1683886"/>
                </a:lnTo>
                <a:lnTo>
                  <a:pt x="8947646" y="1728340"/>
                </a:lnTo>
                <a:lnTo>
                  <a:pt x="8933232" y="1770798"/>
                </a:lnTo>
                <a:lnTo>
                  <a:pt x="8910812" y="1809628"/>
                </a:lnTo>
                <a:lnTo>
                  <a:pt x="8881250" y="1843338"/>
                </a:lnTo>
                <a:lnTo>
                  <a:pt x="8845676" y="1870633"/>
                </a:lnTo>
                <a:lnTo>
                  <a:pt x="8805462" y="1890463"/>
                </a:lnTo>
                <a:lnTo>
                  <a:pt x="8762153" y="1902067"/>
                </a:lnTo>
                <a:lnTo>
                  <a:pt x="8739855" y="1904632"/>
                </a:lnTo>
                <a:lnTo>
                  <a:pt x="8732386" y="19049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074150" y="6897532"/>
            <a:ext cx="6962775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2800" b="1" spc="-150" dirty="0">
                <a:solidFill>
                  <a:srgbClr val="F4EFE3"/>
                </a:solidFill>
                <a:latin typeface="Arial"/>
                <a:cs typeface="Arial"/>
              </a:rPr>
              <a:t>The</a:t>
            </a:r>
            <a:r>
              <a:rPr sz="2800" b="1" spc="-21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b="1" spc="-170" dirty="0">
                <a:solidFill>
                  <a:srgbClr val="F4EFE3"/>
                </a:solidFill>
                <a:latin typeface="Arial"/>
                <a:cs typeface="Arial"/>
              </a:rPr>
              <a:t>gap:</a:t>
            </a:r>
            <a:r>
              <a:rPr sz="2800" b="1" spc="-6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F4EFE3"/>
                </a:solidFill>
                <a:latin typeface="Arial"/>
                <a:cs typeface="Arial"/>
              </a:rPr>
              <a:t>one</a:t>
            </a:r>
            <a:r>
              <a:rPr sz="2800" spc="-12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practical</a:t>
            </a:r>
            <a:r>
              <a:rPr sz="2800" spc="-6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F4EFE3"/>
                </a:solidFill>
                <a:latin typeface="Arial"/>
                <a:cs typeface="Arial"/>
              </a:rPr>
              <a:t>view</a:t>
            </a:r>
            <a:r>
              <a:rPr sz="2800" spc="-9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of</a:t>
            </a:r>
            <a:r>
              <a:rPr sz="2800" spc="-6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the</a:t>
            </a:r>
            <a:r>
              <a:rPr sz="2800" spc="-114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F4EFE3"/>
                </a:solidFill>
                <a:latin typeface="Arial"/>
                <a:cs typeface="Arial"/>
              </a:rPr>
              <a:t>signals </a:t>
            </a:r>
            <a:r>
              <a:rPr sz="2800" spc="-20" dirty="0">
                <a:solidFill>
                  <a:srgbClr val="F4EFE3"/>
                </a:solidFill>
                <a:latin typeface="Arial"/>
                <a:cs typeface="Arial"/>
              </a:rPr>
              <a:t>that </a:t>
            </a:r>
            <a:r>
              <a:rPr sz="2800" spc="-95" dirty="0">
                <a:solidFill>
                  <a:srgbClr val="F4EFE3"/>
                </a:solidFill>
                <a:latin typeface="Arial"/>
                <a:cs typeface="Arial"/>
              </a:rPr>
              <a:t>shape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F4EFE3"/>
                </a:solidFill>
                <a:latin typeface="Arial"/>
                <a:cs typeface="Arial"/>
              </a:rPr>
              <a:t>a</a:t>
            </a:r>
            <a:r>
              <a:rPr sz="2800" spc="-7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4EFE3"/>
                </a:solidFill>
                <a:latin typeface="Arial"/>
                <a:cs typeface="Arial"/>
              </a:rPr>
              <a:t>planting</a:t>
            </a:r>
            <a:r>
              <a:rPr sz="2800" spc="-11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decision.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8800" y="9485020"/>
            <a:ext cx="7951470" cy="27241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z="2150" spc="-280" dirty="0">
                <a:solidFill>
                  <a:srgbClr val="5C6B61"/>
                </a:solidFill>
                <a:latin typeface="Arial"/>
                <a:cs typeface="Arial"/>
              </a:rPr>
              <a:t>DTIE</a:t>
            </a:r>
            <a:r>
              <a:rPr sz="2150" dirty="0">
                <a:solidFill>
                  <a:srgbClr val="5C6B61"/>
                </a:solidFill>
                <a:latin typeface="Arial"/>
                <a:cs typeface="Arial"/>
              </a:rPr>
              <a:t>	|</a:t>
            </a:r>
            <a:r>
              <a:rPr sz="2150" spc="405" dirty="0">
                <a:solidFill>
                  <a:srgbClr val="5C6B61"/>
                </a:solidFill>
                <a:latin typeface="Arial"/>
                <a:cs typeface="Arial"/>
              </a:rPr>
              <a:t> </a:t>
            </a:r>
            <a:r>
              <a:rPr sz="2150" spc="-60" dirty="0">
                <a:solidFill>
                  <a:srgbClr val="5C6B61"/>
                </a:solidFill>
                <a:latin typeface="Arial"/>
                <a:cs typeface="Arial"/>
              </a:rPr>
              <a:t>Department</a:t>
            </a:r>
            <a:r>
              <a:rPr sz="2150" spc="-125" dirty="0">
                <a:solidFill>
                  <a:srgbClr val="5C6B61"/>
                </a:solidFill>
                <a:latin typeface="Arial"/>
                <a:cs typeface="Arial"/>
              </a:rPr>
              <a:t> </a:t>
            </a:r>
            <a:r>
              <a:rPr sz="2150" dirty="0">
                <a:solidFill>
                  <a:srgbClr val="5C6B61"/>
                </a:solidFill>
                <a:latin typeface="Arial"/>
                <a:cs typeface="Arial"/>
              </a:rPr>
              <a:t>of</a:t>
            </a:r>
            <a:r>
              <a:rPr sz="2150" spc="-95" dirty="0">
                <a:solidFill>
                  <a:srgbClr val="5C6B61"/>
                </a:solidFill>
                <a:latin typeface="Arial"/>
                <a:cs typeface="Arial"/>
              </a:rPr>
              <a:t> </a:t>
            </a:r>
            <a:r>
              <a:rPr sz="2150" spc="-45" dirty="0">
                <a:solidFill>
                  <a:srgbClr val="5C6B61"/>
                </a:solidFill>
                <a:latin typeface="Arial"/>
                <a:cs typeface="Arial"/>
              </a:rPr>
              <a:t>Multi</a:t>
            </a:r>
            <a:r>
              <a:rPr sz="2150" spc="-125" dirty="0">
                <a:solidFill>
                  <a:srgbClr val="5C6B61"/>
                </a:solidFill>
                <a:latin typeface="Arial"/>
                <a:cs typeface="Arial"/>
              </a:rPr>
              <a:t> </a:t>
            </a:r>
            <a:r>
              <a:rPr sz="2150" spc="-80" dirty="0">
                <a:solidFill>
                  <a:srgbClr val="5C6B61"/>
                </a:solidFill>
                <a:latin typeface="Arial"/>
                <a:cs typeface="Arial"/>
              </a:rPr>
              <a:t>Disciplinary</a:t>
            </a:r>
            <a:r>
              <a:rPr sz="2150" spc="-145" dirty="0">
                <a:solidFill>
                  <a:srgbClr val="5C6B61"/>
                </a:solidFill>
                <a:latin typeface="Arial"/>
                <a:cs typeface="Arial"/>
              </a:rPr>
              <a:t> </a:t>
            </a:r>
            <a:r>
              <a:rPr sz="2150" spc="-100" dirty="0">
                <a:solidFill>
                  <a:srgbClr val="5C6B61"/>
                </a:solidFill>
                <a:latin typeface="Arial"/>
                <a:cs typeface="Arial"/>
              </a:rPr>
              <a:t>Innovation </a:t>
            </a:r>
            <a:r>
              <a:rPr sz="2150" dirty="0">
                <a:solidFill>
                  <a:srgbClr val="5C6B61"/>
                </a:solidFill>
                <a:latin typeface="Arial"/>
                <a:cs typeface="Arial"/>
              </a:rPr>
              <a:t>&amp;</a:t>
            </a:r>
            <a:r>
              <a:rPr sz="2150" spc="-114" dirty="0">
                <a:solidFill>
                  <a:srgbClr val="5C6B61"/>
                </a:solidFill>
                <a:latin typeface="Arial"/>
                <a:cs typeface="Arial"/>
              </a:rPr>
              <a:t> </a:t>
            </a:r>
            <a:r>
              <a:rPr sz="2150" spc="-45" dirty="0">
                <a:solidFill>
                  <a:srgbClr val="5C6B61"/>
                </a:solidFill>
                <a:latin typeface="Arial"/>
                <a:cs typeface="Arial"/>
              </a:rPr>
              <a:t>Entrepreneurship</a:t>
            </a:r>
            <a:endParaRPr sz="21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1656714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80" dirty="0">
                <a:solidFill>
                  <a:srgbClr val="B5832A"/>
                </a:solidFill>
                <a:latin typeface="Arial"/>
                <a:cs typeface="Arial"/>
              </a:rPr>
              <a:t>RESEARCH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40" dirty="0"/>
              <a:t>What</a:t>
            </a:r>
            <a:r>
              <a:rPr spc="-795" dirty="0"/>
              <a:t> </a:t>
            </a:r>
            <a:r>
              <a:rPr spc="-645" dirty="0"/>
              <a:t>the</a:t>
            </a:r>
            <a:r>
              <a:rPr spc="-819" dirty="0"/>
              <a:t> </a:t>
            </a:r>
            <a:r>
              <a:rPr spc="-590" dirty="0"/>
              <a:t>study</a:t>
            </a:r>
            <a:r>
              <a:rPr spc="-795" dirty="0"/>
              <a:t> </a:t>
            </a:r>
            <a:r>
              <a:rPr spc="-555" dirty="0"/>
              <a:t>should</a:t>
            </a:r>
            <a:r>
              <a:rPr spc="-775" dirty="0"/>
              <a:t> </a:t>
            </a:r>
            <a:r>
              <a:rPr spc="-705" dirty="0"/>
              <a:t>examine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0300" y="2927767"/>
            <a:ext cx="6881495" cy="1377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536565" algn="l"/>
              </a:tabLst>
            </a:pPr>
            <a:r>
              <a:rPr sz="8850" b="1" spc="-615" dirty="0">
                <a:solidFill>
                  <a:srgbClr val="D9B44A"/>
                </a:solidFill>
                <a:latin typeface="Trebuchet MS"/>
                <a:cs typeface="Trebuchet MS"/>
              </a:rPr>
              <a:t>01</a:t>
            </a:r>
            <a:r>
              <a:rPr sz="8850" b="1" dirty="0">
                <a:solidFill>
                  <a:srgbClr val="D9B44A"/>
                </a:solidFill>
                <a:latin typeface="Trebuchet MS"/>
                <a:cs typeface="Trebuchet MS"/>
              </a:rPr>
              <a:t>	</a:t>
            </a:r>
            <a:r>
              <a:rPr sz="8850" b="1" spc="-25" dirty="0">
                <a:solidFill>
                  <a:srgbClr val="D9B44A"/>
                </a:solidFill>
                <a:latin typeface="Trebuchet MS"/>
                <a:cs typeface="Trebuchet MS"/>
              </a:rPr>
              <a:t>02</a:t>
            </a:r>
            <a:endParaRPr sz="8850">
              <a:latin typeface="Trebuchet MS"/>
              <a:cs typeface="Trebuchet MS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179299" y="2927767"/>
            <a:ext cx="1301750" cy="1377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850" b="1" spc="-145" dirty="0">
                <a:solidFill>
                  <a:srgbClr val="D9B44A"/>
                </a:solidFill>
                <a:latin typeface="Trebuchet MS"/>
                <a:cs typeface="Trebuchet MS"/>
              </a:rPr>
              <a:t>03</a:t>
            </a:r>
            <a:endParaRPr sz="8850">
              <a:latin typeface="Trebuchet MS"/>
              <a:cs typeface="Trebuchet MS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143000" y="4476750"/>
            <a:ext cx="4953000" cy="0"/>
          </a:xfrm>
          <a:custGeom>
            <a:avLst/>
            <a:gdLst/>
            <a:ahLst/>
            <a:cxnLst/>
            <a:rect l="l" t="t" r="r" b="b"/>
            <a:pathLst>
              <a:path w="4953000">
                <a:moveTo>
                  <a:pt x="0" y="0"/>
                </a:moveTo>
                <a:lnTo>
                  <a:pt x="4952999" y="0"/>
                </a:lnTo>
              </a:path>
            </a:pathLst>
          </a:custGeom>
          <a:ln w="28574">
            <a:solidFill>
              <a:srgbClr val="163A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6667500" y="4476750"/>
            <a:ext cx="4953000" cy="0"/>
          </a:xfrm>
          <a:custGeom>
            <a:avLst/>
            <a:gdLst/>
            <a:ahLst/>
            <a:cxnLst/>
            <a:rect l="l" t="t" r="r" b="b"/>
            <a:pathLst>
              <a:path w="4953000">
                <a:moveTo>
                  <a:pt x="0" y="0"/>
                </a:moveTo>
                <a:lnTo>
                  <a:pt x="4952999" y="0"/>
                </a:lnTo>
              </a:path>
            </a:pathLst>
          </a:custGeom>
          <a:ln w="28574">
            <a:solidFill>
              <a:srgbClr val="163A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2191999" y="4476750"/>
            <a:ext cx="4953000" cy="0"/>
          </a:xfrm>
          <a:custGeom>
            <a:avLst/>
            <a:gdLst/>
            <a:ahLst/>
            <a:cxnLst/>
            <a:rect l="l" t="t" r="r" b="b"/>
            <a:pathLst>
              <a:path w="4953000">
                <a:moveTo>
                  <a:pt x="0" y="0"/>
                </a:moveTo>
                <a:lnTo>
                  <a:pt x="4952999" y="0"/>
                </a:lnTo>
              </a:path>
            </a:pathLst>
          </a:custGeom>
          <a:ln w="28574">
            <a:solidFill>
              <a:srgbClr val="163A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130300" y="4697257"/>
            <a:ext cx="4826000" cy="14351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60"/>
              </a:spcBef>
            </a:pPr>
            <a:r>
              <a:rPr sz="2800" spc="-145" dirty="0">
                <a:solidFill>
                  <a:srgbClr val="2E3B33"/>
                </a:solidFill>
                <a:latin typeface="Arial"/>
                <a:cs typeface="Arial"/>
              </a:rPr>
              <a:t>Farmers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2E3B33"/>
                </a:solidFill>
                <a:latin typeface="Arial"/>
                <a:cs typeface="Arial"/>
              </a:rPr>
              <a:t>balance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soil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condition, 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weather,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seasonality,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2E3B33"/>
                </a:solidFill>
                <a:latin typeface="Arial"/>
                <a:cs typeface="Arial"/>
              </a:rPr>
              <a:t>input</a:t>
            </a:r>
            <a:r>
              <a:rPr sz="2800" spc="-14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costs, 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and</a:t>
            </a:r>
            <a:r>
              <a:rPr sz="2800" spc="-1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market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access.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654800" y="4697257"/>
            <a:ext cx="4690745" cy="14351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60"/>
              </a:spcBef>
            </a:pP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Local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knowledge</a:t>
            </a: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is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2E3B33"/>
                </a:solidFill>
                <a:latin typeface="Arial"/>
                <a:cs typeface="Arial"/>
              </a:rPr>
              <a:t>valuable, </a:t>
            </a:r>
            <a:r>
              <a:rPr sz="2800" spc="-25" dirty="0">
                <a:solidFill>
                  <a:srgbClr val="2E3B33"/>
                </a:solidFill>
                <a:latin typeface="Arial"/>
                <a:cs typeface="Arial"/>
              </a:rPr>
              <a:t>but </a:t>
            </a:r>
            <a:r>
              <a:rPr sz="2800" spc="-45" dirty="0">
                <a:solidFill>
                  <a:srgbClr val="2E3B33"/>
                </a:solidFill>
                <a:latin typeface="Arial"/>
                <a:cs typeface="Arial"/>
              </a:rPr>
              <a:t>data</a:t>
            </a:r>
            <a:r>
              <a:rPr sz="2800" spc="-11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may</a:t>
            </a:r>
            <a:r>
              <a:rPr sz="2800" spc="-14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2E3B33"/>
                </a:solidFill>
                <a:latin typeface="Arial"/>
                <a:cs typeface="Arial"/>
              </a:rPr>
              <a:t>be</a:t>
            </a:r>
            <a:r>
              <a:rPr sz="2800" spc="-17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2E3B33"/>
                </a:solidFill>
                <a:latin typeface="Arial"/>
                <a:cs typeface="Arial"/>
              </a:rPr>
              <a:t>spread</a:t>
            </a:r>
            <a:r>
              <a:rPr sz="2800" spc="-17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across </a:t>
            </a:r>
            <a:r>
              <a:rPr sz="2800" spc="-30" dirty="0">
                <a:solidFill>
                  <a:srgbClr val="2E3B33"/>
                </a:solidFill>
                <a:latin typeface="Arial"/>
                <a:cs typeface="Arial"/>
              </a:rPr>
              <a:t>different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sources.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179299" y="4697257"/>
            <a:ext cx="4817745" cy="1435100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5080">
              <a:lnSpc>
                <a:spcPct val="110500"/>
              </a:lnSpc>
              <a:spcBef>
                <a:spcPts val="60"/>
              </a:spcBef>
            </a:pP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Interviews,</a:t>
            </a:r>
            <a:r>
              <a:rPr sz="2800" spc="-11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2E3B33"/>
                </a:solidFill>
                <a:latin typeface="Arial"/>
                <a:cs typeface="Arial"/>
              </a:rPr>
              <a:t>field</a:t>
            </a:r>
            <a:r>
              <a:rPr sz="2800" spc="-114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observation,</a:t>
            </a:r>
            <a:r>
              <a:rPr sz="2800" spc="-11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2E3B33"/>
                </a:solidFill>
                <a:latin typeface="Arial"/>
                <a:cs typeface="Arial"/>
              </a:rPr>
              <a:t>and 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user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2E3B33"/>
                </a:solidFill>
                <a:latin typeface="Arial"/>
                <a:cs typeface="Arial"/>
              </a:rPr>
              <a:t>testing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2E3B33"/>
                </a:solidFill>
                <a:latin typeface="Arial"/>
                <a:cs typeface="Arial"/>
              </a:rPr>
              <a:t>can </a:t>
            </a:r>
            <a:r>
              <a:rPr sz="2800" spc="-75" dirty="0">
                <a:solidFill>
                  <a:srgbClr val="2E3B33"/>
                </a:solidFill>
                <a:latin typeface="Arial"/>
                <a:cs typeface="Arial"/>
              </a:rPr>
              <a:t>validate</a:t>
            </a: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2E3B33"/>
                </a:solidFill>
                <a:latin typeface="Arial"/>
                <a:cs typeface="Arial"/>
              </a:rPr>
              <a:t>the </a:t>
            </a:r>
            <a:r>
              <a:rPr sz="2800" spc="-40" dirty="0">
                <a:solidFill>
                  <a:srgbClr val="2E3B33"/>
                </a:solidFill>
                <a:latin typeface="Arial"/>
                <a:cs typeface="Arial"/>
              </a:rPr>
              <a:t>highest-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value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signals.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3000" y="7810500"/>
            <a:ext cx="16002000" cy="952500"/>
          </a:xfrm>
          <a:custGeom>
            <a:avLst/>
            <a:gdLst/>
            <a:ahLst/>
            <a:cxnLst/>
            <a:rect l="l" t="t" r="r" b="b"/>
            <a:pathLst>
              <a:path w="16002000" h="952500">
                <a:moveTo>
                  <a:pt x="15525748" y="952499"/>
                </a:moveTo>
                <a:lnTo>
                  <a:pt x="476249" y="952499"/>
                </a:lnTo>
                <a:lnTo>
                  <a:pt x="464558" y="952356"/>
                </a:lnTo>
                <a:lnTo>
                  <a:pt x="417948" y="948918"/>
                </a:lnTo>
                <a:lnTo>
                  <a:pt x="371899" y="940927"/>
                </a:lnTo>
                <a:lnTo>
                  <a:pt x="326855" y="928461"/>
                </a:lnTo>
                <a:lnTo>
                  <a:pt x="283250" y="911640"/>
                </a:lnTo>
                <a:lnTo>
                  <a:pt x="241504" y="890627"/>
                </a:lnTo>
                <a:lnTo>
                  <a:pt x="202018" y="865622"/>
                </a:lnTo>
                <a:lnTo>
                  <a:pt x="165173" y="836868"/>
                </a:lnTo>
                <a:lnTo>
                  <a:pt x="131324" y="804641"/>
                </a:lnTo>
                <a:lnTo>
                  <a:pt x="100797" y="769251"/>
                </a:lnTo>
                <a:lnTo>
                  <a:pt x="73886" y="731039"/>
                </a:lnTo>
                <a:lnTo>
                  <a:pt x="50850" y="690374"/>
                </a:lnTo>
                <a:lnTo>
                  <a:pt x="31910" y="647646"/>
                </a:lnTo>
                <a:lnTo>
                  <a:pt x="17250" y="603268"/>
                </a:lnTo>
                <a:lnTo>
                  <a:pt x="7010" y="557667"/>
                </a:lnTo>
                <a:lnTo>
                  <a:pt x="1289" y="511281"/>
                </a:lnTo>
                <a:lnTo>
                  <a:pt x="0" y="476249"/>
                </a:lnTo>
                <a:lnTo>
                  <a:pt x="143" y="464558"/>
                </a:lnTo>
                <a:lnTo>
                  <a:pt x="3581" y="417948"/>
                </a:lnTo>
                <a:lnTo>
                  <a:pt x="11572" y="371899"/>
                </a:lnTo>
                <a:lnTo>
                  <a:pt x="24038" y="326855"/>
                </a:lnTo>
                <a:lnTo>
                  <a:pt x="40858" y="283250"/>
                </a:lnTo>
                <a:lnTo>
                  <a:pt x="61872" y="241504"/>
                </a:lnTo>
                <a:lnTo>
                  <a:pt x="86877" y="202018"/>
                </a:lnTo>
                <a:lnTo>
                  <a:pt x="115631" y="165173"/>
                </a:lnTo>
                <a:lnTo>
                  <a:pt x="147858" y="131324"/>
                </a:lnTo>
                <a:lnTo>
                  <a:pt x="183248" y="100797"/>
                </a:lnTo>
                <a:lnTo>
                  <a:pt x="221460" y="73886"/>
                </a:lnTo>
                <a:lnTo>
                  <a:pt x="262125" y="50850"/>
                </a:lnTo>
                <a:lnTo>
                  <a:pt x="304853" y="31910"/>
                </a:lnTo>
                <a:lnTo>
                  <a:pt x="349231" y="17250"/>
                </a:lnTo>
                <a:lnTo>
                  <a:pt x="394832" y="7010"/>
                </a:lnTo>
                <a:lnTo>
                  <a:pt x="441218" y="1289"/>
                </a:lnTo>
                <a:lnTo>
                  <a:pt x="476249" y="0"/>
                </a:lnTo>
                <a:lnTo>
                  <a:pt x="15525748" y="0"/>
                </a:lnTo>
                <a:lnTo>
                  <a:pt x="15572429" y="2293"/>
                </a:lnTo>
                <a:lnTo>
                  <a:pt x="15618659" y="9151"/>
                </a:lnTo>
                <a:lnTo>
                  <a:pt x="15663994" y="20507"/>
                </a:lnTo>
                <a:lnTo>
                  <a:pt x="15707999" y="36252"/>
                </a:lnTo>
                <a:lnTo>
                  <a:pt x="15750250" y="56234"/>
                </a:lnTo>
                <a:lnTo>
                  <a:pt x="15790338" y="80262"/>
                </a:lnTo>
                <a:lnTo>
                  <a:pt x="15827879" y="108103"/>
                </a:lnTo>
                <a:lnTo>
                  <a:pt x="15862507" y="139490"/>
                </a:lnTo>
                <a:lnTo>
                  <a:pt x="15893893" y="174120"/>
                </a:lnTo>
                <a:lnTo>
                  <a:pt x="15921733" y="211659"/>
                </a:lnTo>
                <a:lnTo>
                  <a:pt x="15945763" y="251747"/>
                </a:lnTo>
                <a:lnTo>
                  <a:pt x="15965744" y="293996"/>
                </a:lnTo>
                <a:lnTo>
                  <a:pt x="15981490" y="338001"/>
                </a:lnTo>
                <a:lnTo>
                  <a:pt x="15992847" y="383338"/>
                </a:lnTo>
                <a:lnTo>
                  <a:pt x="15999706" y="429569"/>
                </a:lnTo>
                <a:lnTo>
                  <a:pt x="16001998" y="476249"/>
                </a:lnTo>
                <a:lnTo>
                  <a:pt x="16001855" y="487941"/>
                </a:lnTo>
                <a:lnTo>
                  <a:pt x="15998417" y="534551"/>
                </a:lnTo>
                <a:lnTo>
                  <a:pt x="15990425" y="580600"/>
                </a:lnTo>
                <a:lnTo>
                  <a:pt x="15977960" y="625644"/>
                </a:lnTo>
                <a:lnTo>
                  <a:pt x="15961139" y="669249"/>
                </a:lnTo>
                <a:lnTo>
                  <a:pt x="15940125" y="710995"/>
                </a:lnTo>
                <a:lnTo>
                  <a:pt x="15915119" y="750481"/>
                </a:lnTo>
                <a:lnTo>
                  <a:pt x="15886366" y="787326"/>
                </a:lnTo>
                <a:lnTo>
                  <a:pt x="15854138" y="821175"/>
                </a:lnTo>
                <a:lnTo>
                  <a:pt x="15818749" y="851702"/>
                </a:lnTo>
                <a:lnTo>
                  <a:pt x="15780537" y="878613"/>
                </a:lnTo>
                <a:lnTo>
                  <a:pt x="15739871" y="901649"/>
                </a:lnTo>
                <a:lnTo>
                  <a:pt x="15697143" y="920589"/>
                </a:lnTo>
                <a:lnTo>
                  <a:pt x="15652765" y="935249"/>
                </a:lnTo>
                <a:lnTo>
                  <a:pt x="15607165" y="945489"/>
                </a:lnTo>
                <a:lnTo>
                  <a:pt x="15560781" y="951209"/>
                </a:lnTo>
                <a:lnTo>
                  <a:pt x="15525748" y="952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4240212" y="8022411"/>
            <a:ext cx="980503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70" dirty="0">
                <a:solidFill>
                  <a:srgbClr val="163A26"/>
                </a:solidFill>
                <a:latin typeface="Arial"/>
                <a:cs typeface="Arial"/>
              </a:rPr>
              <a:t>No</a:t>
            </a:r>
            <a:r>
              <a:rPr sz="2800" b="1" spc="-14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85" dirty="0">
                <a:solidFill>
                  <a:srgbClr val="163A26"/>
                </a:solidFill>
                <a:latin typeface="Arial"/>
                <a:cs typeface="Arial"/>
              </a:rPr>
              <a:t>invented</a:t>
            </a:r>
            <a:r>
              <a:rPr sz="2800" b="1" spc="-18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75" dirty="0">
                <a:solidFill>
                  <a:srgbClr val="163A26"/>
                </a:solidFill>
                <a:latin typeface="Arial"/>
                <a:cs typeface="Arial"/>
              </a:rPr>
              <a:t>statistics:</a:t>
            </a:r>
            <a:r>
              <a:rPr sz="2800" b="1" spc="-6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63A26"/>
                </a:solidFill>
                <a:latin typeface="Arial"/>
                <a:cs typeface="Arial"/>
              </a:rPr>
              <a:t>validate</a:t>
            </a:r>
            <a:r>
              <a:rPr sz="2800" spc="-11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163A26"/>
                </a:solidFill>
                <a:latin typeface="Arial"/>
                <a:cs typeface="Arial"/>
              </a:rPr>
              <a:t>assumptions</a:t>
            </a:r>
            <a:r>
              <a:rPr sz="2800" spc="-9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163A26"/>
                </a:solidFill>
                <a:latin typeface="Arial"/>
                <a:cs typeface="Arial"/>
              </a:rPr>
              <a:t>with</a:t>
            </a:r>
            <a:r>
              <a:rPr sz="2800" spc="-5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local</a:t>
            </a:r>
            <a:r>
              <a:rPr sz="2800" spc="-5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163A26"/>
                </a:solidFill>
                <a:latin typeface="Arial"/>
                <a:cs typeface="Arial"/>
              </a:rPr>
              <a:t>research.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42291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40" dirty="0">
                <a:solidFill>
                  <a:srgbClr val="B5832A"/>
                </a:solidFill>
                <a:latin typeface="Arial"/>
                <a:cs typeface="Arial"/>
              </a:rPr>
              <a:t>TARGET</a:t>
            </a:r>
            <a:r>
              <a:rPr sz="2400" b="1" spc="4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75" dirty="0">
                <a:solidFill>
                  <a:srgbClr val="B5832A"/>
                </a:solidFill>
                <a:latin typeface="Arial"/>
                <a:cs typeface="Arial"/>
              </a:rPr>
              <a:t>USER</a:t>
            </a:r>
            <a:r>
              <a:rPr sz="2400" b="1" spc="4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495" dirty="0">
                <a:solidFill>
                  <a:srgbClr val="B5832A"/>
                </a:solidFill>
                <a:latin typeface="Arial"/>
                <a:cs typeface="Arial"/>
              </a:rPr>
              <a:t>-</a:t>
            </a:r>
            <a:r>
              <a:rPr sz="2400" b="1" spc="2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B5832A"/>
                </a:solidFill>
                <a:latin typeface="Arial"/>
                <a:cs typeface="Arial"/>
              </a:rPr>
              <a:t>CUSTOMER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20" dirty="0"/>
              <a:t>Who</a:t>
            </a:r>
            <a:r>
              <a:rPr spc="-810" dirty="0"/>
              <a:t> </a:t>
            </a:r>
            <a:r>
              <a:rPr spc="-940" dirty="0"/>
              <a:t>we</a:t>
            </a:r>
            <a:r>
              <a:rPr spc="-830" dirty="0"/>
              <a:t> </a:t>
            </a:r>
            <a:r>
              <a:rPr spc="-310" dirty="0"/>
              <a:t>s</a:t>
            </a:r>
            <a:r>
              <a:rPr spc="-790" dirty="0"/>
              <a:t>e</a:t>
            </a:r>
            <a:r>
              <a:rPr spc="-760" dirty="0"/>
              <a:t>r</a:t>
            </a:r>
            <a:r>
              <a:rPr spc="-860" dirty="0"/>
              <a:t>v</a:t>
            </a:r>
            <a:r>
              <a:rPr spc="-610" dirty="0"/>
              <a:t>e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0300" y="3029258"/>
            <a:ext cx="8108315" cy="3388995"/>
          </a:xfrm>
          <a:prstGeom prst="rect">
            <a:avLst/>
          </a:prstGeom>
        </p:spPr>
        <p:txBody>
          <a:bodyPr vert="horz" wrap="square" lIns="0" tIns="1041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9"/>
              </a:spcBef>
            </a:pPr>
            <a:r>
              <a:rPr sz="2400" b="1" dirty="0">
                <a:solidFill>
                  <a:srgbClr val="163A26"/>
                </a:solidFill>
                <a:latin typeface="Arial"/>
                <a:cs typeface="Arial"/>
              </a:rPr>
              <a:t>PRIMARY</a:t>
            </a:r>
            <a:r>
              <a:rPr sz="2400" b="1" spc="-9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63A26"/>
                </a:solidFill>
                <a:latin typeface="Arial"/>
                <a:cs typeface="Arial"/>
              </a:rPr>
              <a:t>USERS</a:t>
            </a:r>
            <a:endParaRPr sz="2400">
              <a:latin typeface="Arial"/>
              <a:cs typeface="Arial"/>
            </a:endParaRPr>
          </a:p>
          <a:p>
            <a:pPr marL="12700" marR="5080">
              <a:lnSpc>
                <a:spcPct val="109400"/>
              </a:lnSpc>
              <a:spcBef>
                <a:spcPts val="530"/>
              </a:spcBef>
            </a:pP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Smallholder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and</a:t>
            </a:r>
            <a:r>
              <a:rPr sz="2800" spc="-1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2E3B33"/>
                </a:solidFill>
                <a:latin typeface="Arial"/>
                <a:cs typeface="Arial"/>
              </a:rPr>
              <a:t>independent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2E3B33"/>
                </a:solidFill>
                <a:latin typeface="Arial"/>
                <a:cs typeface="Arial"/>
              </a:rPr>
              <a:t>farmers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making</a:t>
            </a: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2E3B33"/>
                </a:solidFill>
                <a:latin typeface="Arial"/>
                <a:cs typeface="Arial"/>
              </a:rPr>
              <a:t>seasonal </a:t>
            </a:r>
            <a:r>
              <a:rPr sz="2800" spc="-55" dirty="0">
                <a:solidFill>
                  <a:srgbClr val="2E3B33"/>
                </a:solidFill>
                <a:latin typeface="Arial"/>
                <a:cs typeface="Arial"/>
              </a:rPr>
              <a:t>planting</a:t>
            </a:r>
            <a:r>
              <a:rPr sz="2800" spc="-14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decisions.</a:t>
            </a:r>
            <a:endParaRPr sz="2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305"/>
              </a:spcBef>
            </a:pP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solidFill>
                  <a:srgbClr val="163A26"/>
                </a:solidFill>
                <a:latin typeface="Arial"/>
                <a:cs typeface="Arial"/>
              </a:rPr>
              <a:t>SUPPORTING</a:t>
            </a:r>
            <a:r>
              <a:rPr sz="2400" b="1" spc="-4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163A26"/>
                </a:solidFill>
                <a:latin typeface="Arial"/>
                <a:cs typeface="Arial"/>
              </a:rPr>
              <a:t>CUSTOMERS</a:t>
            </a:r>
            <a:endParaRPr sz="2400">
              <a:latin typeface="Arial"/>
              <a:cs typeface="Arial"/>
            </a:endParaRPr>
          </a:p>
          <a:p>
            <a:pPr marL="12700" marR="127635">
              <a:lnSpc>
                <a:spcPct val="109400"/>
              </a:lnSpc>
              <a:spcBef>
                <a:spcPts val="525"/>
              </a:spcBef>
            </a:pP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Agronomists,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cooperatives,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extension </a:t>
            </a: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teams, </a:t>
            </a:r>
            <a:r>
              <a:rPr sz="2800" spc="-70" dirty="0">
                <a:solidFill>
                  <a:srgbClr val="2E3B33"/>
                </a:solidFill>
                <a:latin typeface="Arial"/>
                <a:cs typeface="Arial"/>
              </a:rPr>
              <a:t>and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agri-</a:t>
            </a:r>
            <a:r>
              <a:rPr sz="2800" spc="-85" dirty="0">
                <a:solidFill>
                  <a:srgbClr val="2E3B33"/>
                </a:solidFill>
                <a:latin typeface="Arial"/>
                <a:cs typeface="Arial"/>
              </a:rPr>
              <a:t>service</a:t>
            </a:r>
            <a:r>
              <a:rPr sz="2800" spc="-14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partners.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000" y="7239000"/>
            <a:ext cx="8953500" cy="1333500"/>
          </a:xfrm>
          <a:custGeom>
            <a:avLst/>
            <a:gdLst/>
            <a:ahLst/>
            <a:cxnLst/>
            <a:rect l="l" t="t" r="r" b="b"/>
            <a:pathLst>
              <a:path w="8953500" h="1333500">
                <a:moveTo>
                  <a:pt x="8732386" y="1333499"/>
                </a:moveTo>
                <a:lnTo>
                  <a:pt x="221113" y="1333499"/>
                </a:lnTo>
                <a:lnTo>
                  <a:pt x="213644" y="1333133"/>
                </a:lnTo>
                <a:lnTo>
                  <a:pt x="169405" y="1325829"/>
                </a:lnTo>
                <a:lnTo>
                  <a:pt x="127441" y="1310036"/>
                </a:lnTo>
                <a:lnTo>
                  <a:pt x="89365" y="1286359"/>
                </a:lnTo>
                <a:lnTo>
                  <a:pt x="56639" y="1255709"/>
                </a:lnTo>
                <a:lnTo>
                  <a:pt x="30522" y="1219263"/>
                </a:lnTo>
                <a:lnTo>
                  <a:pt x="12016" y="1178423"/>
                </a:lnTo>
                <a:lnTo>
                  <a:pt x="1834" y="1134757"/>
                </a:lnTo>
                <a:lnTo>
                  <a:pt x="0" y="1112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8732386" y="0"/>
                </a:lnTo>
                <a:lnTo>
                  <a:pt x="8776839" y="5853"/>
                </a:lnTo>
                <a:lnTo>
                  <a:pt x="8819297" y="20266"/>
                </a:lnTo>
                <a:lnTo>
                  <a:pt x="8858127" y="42685"/>
                </a:lnTo>
                <a:lnTo>
                  <a:pt x="8891837" y="72249"/>
                </a:lnTo>
                <a:lnTo>
                  <a:pt x="8919132" y="107821"/>
                </a:lnTo>
                <a:lnTo>
                  <a:pt x="8938962" y="148035"/>
                </a:lnTo>
                <a:lnTo>
                  <a:pt x="8950567" y="191345"/>
                </a:lnTo>
                <a:lnTo>
                  <a:pt x="8953499" y="221113"/>
                </a:lnTo>
                <a:lnTo>
                  <a:pt x="8953499" y="1112386"/>
                </a:lnTo>
                <a:lnTo>
                  <a:pt x="8947646" y="1156840"/>
                </a:lnTo>
                <a:lnTo>
                  <a:pt x="8933232" y="1199298"/>
                </a:lnTo>
                <a:lnTo>
                  <a:pt x="8910812" y="1238128"/>
                </a:lnTo>
                <a:lnTo>
                  <a:pt x="8881250" y="1271838"/>
                </a:lnTo>
                <a:lnTo>
                  <a:pt x="8845676" y="1299133"/>
                </a:lnTo>
                <a:lnTo>
                  <a:pt x="8805462" y="1318963"/>
                </a:lnTo>
                <a:lnTo>
                  <a:pt x="8762153" y="1330567"/>
                </a:lnTo>
                <a:lnTo>
                  <a:pt x="8739855" y="1333133"/>
                </a:lnTo>
                <a:lnTo>
                  <a:pt x="8732386" y="13334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25650" y="7373782"/>
            <a:ext cx="693674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2800" b="1" spc="-170" dirty="0">
                <a:solidFill>
                  <a:srgbClr val="F4EFE3"/>
                </a:solidFill>
                <a:latin typeface="Arial"/>
                <a:cs typeface="Arial"/>
              </a:rPr>
              <a:t>Design</a:t>
            </a:r>
            <a:r>
              <a:rPr sz="2800" b="1" spc="-17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b="1" spc="-65" dirty="0">
                <a:solidFill>
                  <a:srgbClr val="F4EFE3"/>
                </a:solidFill>
                <a:latin typeface="Arial"/>
                <a:cs typeface="Arial"/>
              </a:rPr>
              <a:t>priority:</a:t>
            </a:r>
            <a:r>
              <a:rPr sz="2800" b="1" spc="-7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4EFE3"/>
                </a:solidFill>
                <a:latin typeface="Arial"/>
                <a:cs typeface="Arial"/>
              </a:rPr>
              <a:t>clear</a:t>
            </a:r>
            <a:r>
              <a:rPr sz="2800" spc="-6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F4EFE3"/>
                </a:solidFill>
                <a:latin typeface="Arial"/>
                <a:cs typeface="Arial"/>
              </a:rPr>
              <a:t>recommendations,</a:t>
            </a:r>
            <a:r>
              <a:rPr sz="2800" spc="-11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40" dirty="0">
                <a:solidFill>
                  <a:srgbClr val="F4EFE3"/>
                </a:solidFill>
                <a:latin typeface="Arial"/>
                <a:cs typeface="Arial"/>
              </a:rPr>
              <a:t>local </a:t>
            </a:r>
            <a:r>
              <a:rPr sz="2800" spc="-30" dirty="0">
                <a:solidFill>
                  <a:srgbClr val="F4EFE3"/>
                </a:solidFill>
                <a:latin typeface="Arial"/>
                <a:cs typeface="Arial"/>
              </a:rPr>
              <a:t>context,</a:t>
            </a:r>
            <a:r>
              <a:rPr sz="2800" spc="-16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4EFE3"/>
                </a:solidFill>
                <a:latin typeface="Arial"/>
                <a:cs typeface="Arial"/>
              </a:rPr>
              <a:t>and</a:t>
            </a:r>
            <a:r>
              <a:rPr sz="2800" spc="-15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F4EFE3"/>
                </a:solidFill>
                <a:latin typeface="Arial"/>
                <a:cs typeface="Arial"/>
              </a:rPr>
              <a:t>farmer</a:t>
            </a:r>
            <a:r>
              <a:rPr sz="2800" spc="-10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control.</a:t>
            </a:r>
            <a:endParaRPr sz="2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0" y="0"/>
            <a:ext cx="6857999" cy="10286999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219456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30" dirty="0">
                <a:solidFill>
                  <a:srgbClr val="B5832A"/>
                </a:solidFill>
                <a:latin typeface="Arial"/>
                <a:cs typeface="Arial"/>
              </a:rPr>
              <a:t>BENCHMARKS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85" dirty="0"/>
              <a:t>Alternatives</a:t>
            </a:r>
            <a:r>
              <a:rPr spc="-395" dirty="0"/>
              <a:t> </a:t>
            </a:r>
            <a:r>
              <a:rPr spc="-655" dirty="0"/>
              <a:t>today</a:t>
            </a:r>
          </a:p>
        </p:txBody>
      </p:sp>
      <p:sp>
        <p:nvSpPr>
          <p:cNvPr id="4" name="object 4"/>
          <p:cNvSpPr/>
          <p:nvPr/>
        </p:nvSpPr>
        <p:spPr>
          <a:xfrm>
            <a:off x="1143000" y="3143249"/>
            <a:ext cx="5143500" cy="2857500"/>
          </a:xfrm>
          <a:custGeom>
            <a:avLst/>
            <a:gdLst/>
            <a:ahLst/>
            <a:cxnLst/>
            <a:rect l="l" t="t" r="r" b="b"/>
            <a:pathLst>
              <a:path w="5143500" h="2857500">
                <a:moveTo>
                  <a:pt x="4922386" y="2857499"/>
                </a:moveTo>
                <a:lnTo>
                  <a:pt x="221113" y="2857499"/>
                </a:lnTo>
                <a:lnTo>
                  <a:pt x="213644" y="2857132"/>
                </a:lnTo>
                <a:lnTo>
                  <a:pt x="169405" y="2849829"/>
                </a:lnTo>
                <a:lnTo>
                  <a:pt x="127441" y="2834036"/>
                </a:lnTo>
                <a:lnTo>
                  <a:pt x="89365" y="2810359"/>
                </a:lnTo>
                <a:lnTo>
                  <a:pt x="56639" y="2779709"/>
                </a:lnTo>
                <a:lnTo>
                  <a:pt x="30522" y="2743263"/>
                </a:lnTo>
                <a:lnTo>
                  <a:pt x="12016" y="2702423"/>
                </a:lnTo>
                <a:lnTo>
                  <a:pt x="1834" y="2658757"/>
                </a:lnTo>
                <a:lnTo>
                  <a:pt x="0" y="2636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4922386" y="0"/>
                </a:lnTo>
                <a:lnTo>
                  <a:pt x="4966840" y="5853"/>
                </a:lnTo>
                <a:lnTo>
                  <a:pt x="5009297" y="20266"/>
                </a:lnTo>
                <a:lnTo>
                  <a:pt x="5048128" y="42685"/>
                </a:lnTo>
                <a:lnTo>
                  <a:pt x="5081838" y="72249"/>
                </a:lnTo>
                <a:lnTo>
                  <a:pt x="5109132" y="107821"/>
                </a:lnTo>
                <a:lnTo>
                  <a:pt x="5128963" y="148035"/>
                </a:lnTo>
                <a:lnTo>
                  <a:pt x="5140567" y="191345"/>
                </a:lnTo>
                <a:lnTo>
                  <a:pt x="5143499" y="221113"/>
                </a:lnTo>
                <a:lnTo>
                  <a:pt x="5143499" y="2636386"/>
                </a:lnTo>
                <a:lnTo>
                  <a:pt x="5137646" y="2680840"/>
                </a:lnTo>
                <a:lnTo>
                  <a:pt x="5123232" y="2723298"/>
                </a:lnTo>
                <a:lnTo>
                  <a:pt x="5100813" y="2762128"/>
                </a:lnTo>
                <a:lnTo>
                  <a:pt x="5071249" y="2795838"/>
                </a:lnTo>
                <a:lnTo>
                  <a:pt x="5035677" y="2823133"/>
                </a:lnTo>
                <a:lnTo>
                  <a:pt x="4995463" y="2842963"/>
                </a:lnTo>
                <a:lnTo>
                  <a:pt x="4952153" y="2854567"/>
                </a:lnTo>
                <a:lnTo>
                  <a:pt x="4929855" y="2857132"/>
                </a:lnTo>
                <a:lnTo>
                  <a:pt x="4922386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44650" y="4697257"/>
            <a:ext cx="366712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120" dirty="0">
                <a:solidFill>
                  <a:srgbClr val="163A26"/>
                </a:solidFill>
                <a:latin typeface="Arial"/>
                <a:cs typeface="Arial"/>
              </a:rPr>
              <a:t>Farmer</a:t>
            </a:r>
            <a:r>
              <a:rPr sz="2800" b="1" spc="-12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90" dirty="0">
                <a:solidFill>
                  <a:srgbClr val="163A26"/>
                </a:solidFill>
                <a:latin typeface="Arial"/>
                <a:cs typeface="Arial"/>
              </a:rPr>
              <a:t>experience</a:t>
            </a:r>
            <a:r>
              <a:rPr sz="2800" b="1" spc="-16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60" dirty="0">
                <a:solidFill>
                  <a:srgbClr val="163A26"/>
                </a:solidFill>
                <a:latin typeface="Arial"/>
                <a:cs typeface="Arial"/>
              </a:rPr>
              <a:t>and </a:t>
            </a:r>
            <a:r>
              <a:rPr sz="2800" b="1" spc="-65" dirty="0">
                <a:solidFill>
                  <a:srgbClr val="163A26"/>
                </a:solidFill>
                <a:latin typeface="Arial"/>
                <a:cs typeface="Arial"/>
              </a:rPr>
              <a:t>peer</a:t>
            </a:r>
            <a:r>
              <a:rPr sz="2800" b="1" spc="-17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advice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6572250" y="3143249"/>
            <a:ext cx="5143500" cy="2857500"/>
          </a:xfrm>
          <a:custGeom>
            <a:avLst/>
            <a:gdLst/>
            <a:ahLst/>
            <a:cxnLst/>
            <a:rect l="l" t="t" r="r" b="b"/>
            <a:pathLst>
              <a:path w="5143500" h="2857500">
                <a:moveTo>
                  <a:pt x="4922386" y="2857499"/>
                </a:moveTo>
                <a:lnTo>
                  <a:pt x="221113" y="2857499"/>
                </a:lnTo>
                <a:lnTo>
                  <a:pt x="213644" y="2857132"/>
                </a:lnTo>
                <a:lnTo>
                  <a:pt x="169405" y="2849829"/>
                </a:lnTo>
                <a:lnTo>
                  <a:pt x="127441" y="2834036"/>
                </a:lnTo>
                <a:lnTo>
                  <a:pt x="89365" y="2810359"/>
                </a:lnTo>
                <a:lnTo>
                  <a:pt x="56639" y="2779709"/>
                </a:lnTo>
                <a:lnTo>
                  <a:pt x="30522" y="2743263"/>
                </a:lnTo>
                <a:lnTo>
                  <a:pt x="12016" y="2702423"/>
                </a:lnTo>
                <a:lnTo>
                  <a:pt x="1834" y="2658757"/>
                </a:lnTo>
                <a:lnTo>
                  <a:pt x="0" y="2636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4922386" y="0"/>
                </a:lnTo>
                <a:lnTo>
                  <a:pt x="4966840" y="5853"/>
                </a:lnTo>
                <a:lnTo>
                  <a:pt x="5009297" y="20266"/>
                </a:lnTo>
                <a:lnTo>
                  <a:pt x="5048128" y="42685"/>
                </a:lnTo>
                <a:lnTo>
                  <a:pt x="5081838" y="72249"/>
                </a:lnTo>
                <a:lnTo>
                  <a:pt x="5109132" y="107821"/>
                </a:lnTo>
                <a:lnTo>
                  <a:pt x="5128963" y="148035"/>
                </a:lnTo>
                <a:lnTo>
                  <a:pt x="5140567" y="191345"/>
                </a:lnTo>
                <a:lnTo>
                  <a:pt x="5143499" y="221113"/>
                </a:lnTo>
                <a:lnTo>
                  <a:pt x="5143499" y="2636386"/>
                </a:lnTo>
                <a:lnTo>
                  <a:pt x="5137646" y="2680840"/>
                </a:lnTo>
                <a:lnTo>
                  <a:pt x="5123232" y="2723298"/>
                </a:lnTo>
                <a:lnTo>
                  <a:pt x="5100813" y="2762128"/>
                </a:lnTo>
                <a:lnTo>
                  <a:pt x="5071249" y="2795838"/>
                </a:lnTo>
                <a:lnTo>
                  <a:pt x="5035677" y="2823133"/>
                </a:lnTo>
                <a:lnTo>
                  <a:pt x="4995463" y="2842963"/>
                </a:lnTo>
                <a:lnTo>
                  <a:pt x="4952153" y="2854567"/>
                </a:lnTo>
                <a:lnTo>
                  <a:pt x="4929855" y="2857132"/>
                </a:lnTo>
                <a:lnTo>
                  <a:pt x="4922386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7073900" y="4697257"/>
            <a:ext cx="3831590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90" dirty="0">
                <a:solidFill>
                  <a:srgbClr val="163A26"/>
                </a:solidFill>
                <a:latin typeface="Arial"/>
                <a:cs typeface="Arial"/>
              </a:rPr>
              <a:t>Weather,</a:t>
            </a:r>
            <a:r>
              <a:rPr sz="2800" b="1" spc="-17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155" dirty="0">
                <a:solidFill>
                  <a:srgbClr val="163A26"/>
                </a:solidFill>
                <a:latin typeface="Arial"/>
                <a:cs typeface="Arial"/>
              </a:rPr>
              <a:t>soil,</a:t>
            </a:r>
            <a:r>
              <a:rPr sz="2800" b="1" spc="-17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95" dirty="0">
                <a:solidFill>
                  <a:srgbClr val="163A26"/>
                </a:solidFill>
                <a:latin typeface="Arial"/>
                <a:cs typeface="Arial"/>
              </a:rPr>
              <a:t>and</a:t>
            </a:r>
            <a:r>
              <a:rPr sz="2800" b="1" spc="-16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45" dirty="0">
                <a:solidFill>
                  <a:srgbClr val="163A26"/>
                </a:solidFill>
                <a:latin typeface="Arial"/>
                <a:cs typeface="Arial"/>
              </a:rPr>
              <a:t>crop-</a:t>
            </a:r>
            <a:r>
              <a:rPr sz="2800" b="1" spc="-135" dirty="0">
                <a:solidFill>
                  <a:srgbClr val="163A26"/>
                </a:solidFill>
                <a:latin typeface="Arial"/>
                <a:cs typeface="Arial"/>
              </a:rPr>
              <a:t>planning</a:t>
            </a:r>
            <a:r>
              <a:rPr sz="2800" b="1" spc="-14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163A26"/>
                </a:solidFill>
                <a:latin typeface="Arial"/>
                <a:cs typeface="Arial"/>
              </a:rPr>
              <a:t>tools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2001499" y="3143249"/>
            <a:ext cx="5143500" cy="2857500"/>
          </a:xfrm>
          <a:custGeom>
            <a:avLst/>
            <a:gdLst/>
            <a:ahLst/>
            <a:cxnLst/>
            <a:rect l="l" t="t" r="r" b="b"/>
            <a:pathLst>
              <a:path w="5143500" h="2857500">
                <a:moveTo>
                  <a:pt x="4922386" y="2857499"/>
                </a:moveTo>
                <a:lnTo>
                  <a:pt x="221113" y="2857499"/>
                </a:lnTo>
                <a:lnTo>
                  <a:pt x="213644" y="2857132"/>
                </a:lnTo>
                <a:lnTo>
                  <a:pt x="169405" y="2849829"/>
                </a:lnTo>
                <a:lnTo>
                  <a:pt x="127441" y="2834036"/>
                </a:lnTo>
                <a:lnTo>
                  <a:pt x="89365" y="2810359"/>
                </a:lnTo>
                <a:lnTo>
                  <a:pt x="56639" y="2779709"/>
                </a:lnTo>
                <a:lnTo>
                  <a:pt x="30522" y="2743263"/>
                </a:lnTo>
                <a:lnTo>
                  <a:pt x="12016" y="2702423"/>
                </a:lnTo>
                <a:lnTo>
                  <a:pt x="1834" y="2658757"/>
                </a:lnTo>
                <a:lnTo>
                  <a:pt x="0" y="2636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4922386" y="0"/>
                </a:lnTo>
                <a:lnTo>
                  <a:pt x="4966840" y="5853"/>
                </a:lnTo>
                <a:lnTo>
                  <a:pt x="5009297" y="20266"/>
                </a:lnTo>
                <a:lnTo>
                  <a:pt x="5048128" y="42685"/>
                </a:lnTo>
                <a:lnTo>
                  <a:pt x="5081838" y="72249"/>
                </a:lnTo>
                <a:lnTo>
                  <a:pt x="5109132" y="107821"/>
                </a:lnTo>
                <a:lnTo>
                  <a:pt x="5128963" y="148035"/>
                </a:lnTo>
                <a:lnTo>
                  <a:pt x="5140567" y="191345"/>
                </a:lnTo>
                <a:lnTo>
                  <a:pt x="5143499" y="221113"/>
                </a:lnTo>
                <a:lnTo>
                  <a:pt x="5143499" y="2636386"/>
                </a:lnTo>
                <a:lnTo>
                  <a:pt x="5137646" y="2680840"/>
                </a:lnTo>
                <a:lnTo>
                  <a:pt x="5123232" y="2723298"/>
                </a:lnTo>
                <a:lnTo>
                  <a:pt x="5100813" y="2762128"/>
                </a:lnTo>
                <a:lnTo>
                  <a:pt x="5071249" y="2795838"/>
                </a:lnTo>
                <a:lnTo>
                  <a:pt x="5035677" y="2823133"/>
                </a:lnTo>
                <a:lnTo>
                  <a:pt x="4995463" y="2842963"/>
                </a:lnTo>
                <a:lnTo>
                  <a:pt x="4952153" y="2854567"/>
                </a:lnTo>
                <a:lnTo>
                  <a:pt x="4929855" y="2857132"/>
                </a:lnTo>
                <a:lnTo>
                  <a:pt x="4922386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12503149" y="4697257"/>
            <a:ext cx="4111625" cy="9779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1600"/>
              </a:lnSpc>
              <a:spcBef>
                <a:spcPts val="95"/>
              </a:spcBef>
            </a:pPr>
            <a:r>
              <a:rPr sz="2800" b="1" spc="-75" dirty="0">
                <a:solidFill>
                  <a:srgbClr val="163A26"/>
                </a:solidFill>
                <a:latin typeface="Arial"/>
                <a:cs typeface="Arial"/>
              </a:rPr>
              <a:t>Input</a:t>
            </a:r>
            <a:r>
              <a:rPr sz="2800" b="1" spc="-120" dirty="0">
                <a:solidFill>
                  <a:srgbClr val="163A26"/>
                </a:solidFill>
                <a:latin typeface="Arial"/>
                <a:cs typeface="Arial"/>
              </a:rPr>
              <a:t> suppliers</a:t>
            </a:r>
            <a:r>
              <a:rPr sz="2800" b="1" spc="-14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25" dirty="0">
                <a:solidFill>
                  <a:srgbClr val="163A26"/>
                </a:solidFill>
                <a:latin typeface="Arial"/>
                <a:cs typeface="Arial"/>
              </a:rPr>
              <a:t>and </a:t>
            </a:r>
            <a:r>
              <a:rPr sz="2800" b="1" spc="50" dirty="0">
                <a:solidFill>
                  <a:srgbClr val="163A26"/>
                </a:solidFill>
                <a:latin typeface="Arial"/>
                <a:cs typeface="Arial"/>
              </a:rPr>
              <a:t>market-</a:t>
            </a:r>
            <a:r>
              <a:rPr sz="2800" b="1" spc="-55" dirty="0">
                <a:solidFill>
                  <a:srgbClr val="163A26"/>
                </a:solidFill>
                <a:latin typeface="Arial"/>
                <a:cs typeface="Arial"/>
              </a:rPr>
              <a:t>price</a:t>
            </a:r>
            <a:r>
              <a:rPr sz="2800" b="1" spc="-17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80" dirty="0">
                <a:solidFill>
                  <a:srgbClr val="163A26"/>
                </a:solidFill>
                <a:latin typeface="Arial"/>
                <a:cs typeface="Arial"/>
              </a:rPr>
              <a:t>information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143000" y="6476999"/>
            <a:ext cx="16002000" cy="2286000"/>
          </a:xfrm>
          <a:custGeom>
            <a:avLst/>
            <a:gdLst/>
            <a:ahLst/>
            <a:cxnLst/>
            <a:rect l="l" t="t" r="r" b="b"/>
            <a:pathLst>
              <a:path w="16002000" h="2286000">
                <a:moveTo>
                  <a:pt x="15780886" y="2285999"/>
                </a:moveTo>
                <a:lnTo>
                  <a:pt x="221113" y="2285999"/>
                </a:lnTo>
                <a:lnTo>
                  <a:pt x="213644" y="2285632"/>
                </a:lnTo>
                <a:lnTo>
                  <a:pt x="169405" y="2278329"/>
                </a:lnTo>
                <a:lnTo>
                  <a:pt x="127441" y="2262536"/>
                </a:lnTo>
                <a:lnTo>
                  <a:pt x="89365" y="2238859"/>
                </a:lnTo>
                <a:lnTo>
                  <a:pt x="56639" y="2208209"/>
                </a:lnTo>
                <a:lnTo>
                  <a:pt x="30522" y="2171763"/>
                </a:lnTo>
                <a:lnTo>
                  <a:pt x="12016" y="2130923"/>
                </a:lnTo>
                <a:lnTo>
                  <a:pt x="1834" y="2087257"/>
                </a:lnTo>
                <a:lnTo>
                  <a:pt x="0" y="2064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15780886" y="0"/>
                </a:lnTo>
                <a:lnTo>
                  <a:pt x="15825339" y="5853"/>
                </a:lnTo>
                <a:lnTo>
                  <a:pt x="15867796" y="20266"/>
                </a:lnTo>
                <a:lnTo>
                  <a:pt x="15906626" y="42685"/>
                </a:lnTo>
                <a:lnTo>
                  <a:pt x="15940336" y="72249"/>
                </a:lnTo>
                <a:lnTo>
                  <a:pt x="15967629" y="107821"/>
                </a:lnTo>
                <a:lnTo>
                  <a:pt x="15987461" y="148035"/>
                </a:lnTo>
                <a:lnTo>
                  <a:pt x="15999065" y="191345"/>
                </a:lnTo>
                <a:lnTo>
                  <a:pt x="16001998" y="221113"/>
                </a:lnTo>
                <a:lnTo>
                  <a:pt x="16001998" y="2064886"/>
                </a:lnTo>
                <a:lnTo>
                  <a:pt x="15996144" y="2109340"/>
                </a:lnTo>
                <a:lnTo>
                  <a:pt x="15981731" y="2151798"/>
                </a:lnTo>
                <a:lnTo>
                  <a:pt x="15959310" y="2190628"/>
                </a:lnTo>
                <a:lnTo>
                  <a:pt x="15929748" y="2224338"/>
                </a:lnTo>
                <a:lnTo>
                  <a:pt x="15894176" y="2251633"/>
                </a:lnTo>
                <a:lnTo>
                  <a:pt x="15853962" y="2271463"/>
                </a:lnTo>
                <a:lnTo>
                  <a:pt x="15810652" y="2283067"/>
                </a:lnTo>
                <a:lnTo>
                  <a:pt x="15788355" y="2285632"/>
                </a:lnTo>
                <a:lnTo>
                  <a:pt x="15780886" y="22859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2730499" y="7088032"/>
            <a:ext cx="11833860" cy="9588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125" dirty="0">
                <a:solidFill>
                  <a:srgbClr val="F4EFE3"/>
                </a:solidFill>
                <a:latin typeface="Arial"/>
                <a:cs typeface="Arial"/>
              </a:rPr>
              <a:t>Our</a:t>
            </a:r>
            <a:r>
              <a:rPr sz="2800" b="1" spc="-17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4EFE3"/>
                </a:solidFill>
                <a:latin typeface="Arial"/>
                <a:cs typeface="Arial"/>
              </a:rPr>
              <a:t>benchmark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800" spc="-210" dirty="0">
                <a:solidFill>
                  <a:srgbClr val="F4EFE3"/>
                </a:solidFill>
                <a:latin typeface="Arial"/>
                <a:cs typeface="Arial"/>
              </a:rPr>
              <a:t>Be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F4EFE3"/>
                </a:solidFill>
                <a:latin typeface="Arial"/>
                <a:cs typeface="Arial"/>
              </a:rPr>
              <a:t>simpler</a:t>
            </a:r>
            <a:r>
              <a:rPr sz="2800" spc="-9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than</a:t>
            </a:r>
            <a:r>
              <a:rPr sz="2800" spc="-7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F4EFE3"/>
                </a:solidFill>
                <a:latin typeface="Arial"/>
                <a:cs typeface="Arial"/>
              </a:rPr>
              <a:t>separate</a:t>
            </a:r>
            <a:r>
              <a:rPr sz="2800" spc="-13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tools</a:t>
            </a:r>
            <a:r>
              <a:rPr sz="2800" spc="-114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4EFE3"/>
                </a:solidFill>
                <a:latin typeface="Arial"/>
                <a:cs typeface="Arial"/>
              </a:rPr>
              <a:t>and</a:t>
            </a:r>
            <a:r>
              <a:rPr sz="2800" spc="-13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F4EFE3"/>
                </a:solidFill>
                <a:latin typeface="Arial"/>
                <a:cs typeface="Arial"/>
              </a:rPr>
              <a:t>more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4EFE3"/>
                </a:solidFill>
                <a:latin typeface="Arial"/>
                <a:cs typeface="Arial"/>
              </a:rPr>
              <a:t>transparent</a:t>
            </a:r>
            <a:r>
              <a:rPr sz="2800" spc="-13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than</a:t>
            </a:r>
            <a:r>
              <a:rPr sz="2800" spc="-7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F4EFE3"/>
                </a:solidFill>
                <a:latin typeface="Arial"/>
                <a:cs typeface="Arial"/>
              </a:rPr>
              <a:t>a</a:t>
            </a:r>
            <a:r>
              <a:rPr sz="2800" spc="-7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black-</a:t>
            </a:r>
            <a:r>
              <a:rPr sz="2800" spc="-95" dirty="0">
                <a:solidFill>
                  <a:srgbClr val="F4EFE3"/>
                </a:solidFill>
                <a:latin typeface="Arial"/>
                <a:cs typeface="Arial"/>
              </a:rPr>
              <a:t>box</a:t>
            </a:r>
            <a:r>
              <a:rPr sz="2800" spc="-10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F4EFE3"/>
                </a:solidFill>
                <a:latin typeface="Arial"/>
                <a:cs typeface="Arial"/>
              </a:rPr>
              <a:t>answer.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242824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35" dirty="0">
                <a:solidFill>
                  <a:srgbClr val="B5832A"/>
                </a:solidFill>
                <a:latin typeface="Arial"/>
                <a:cs typeface="Arial"/>
              </a:rPr>
              <a:t>RISKS</a:t>
            </a:r>
            <a:r>
              <a:rPr sz="2400" b="1" spc="40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B5832A"/>
                </a:solidFill>
                <a:latin typeface="Arial"/>
                <a:cs typeface="Arial"/>
              </a:rPr>
              <a:t>AND</a:t>
            </a:r>
            <a:r>
              <a:rPr sz="2400" b="1" spc="3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25" dirty="0">
                <a:solidFill>
                  <a:srgbClr val="B5832A"/>
                </a:solidFill>
                <a:latin typeface="Arial"/>
                <a:cs typeface="Arial"/>
              </a:rPr>
              <a:t>GAP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40" dirty="0"/>
              <a:t>What</a:t>
            </a:r>
            <a:r>
              <a:rPr spc="-795" dirty="0"/>
              <a:t> </a:t>
            </a:r>
            <a:r>
              <a:rPr spc="-520" dirty="0"/>
              <a:t>could</a:t>
            </a:r>
            <a:r>
              <a:rPr spc="-775" dirty="0"/>
              <a:t> </a:t>
            </a:r>
            <a:r>
              <a:rPr spc="-335" dirty="0"/>
              <a:t>s</a:t>
            </a:r>
            <a:r>
              <a:rPr spc="-755" dirty="0"/>
              <a:t>l</a:t>
            </a:r>
            <a:r>
              <a:rPr spc="-850" dirty="0"/>
              <a:t>o</a:t>
            </a:r>
            <a:r>
              <a:rPr spc="-635" dirty="0"/>
              <a:t>w</a:t>
            </a:r>
            <a:r>
              <a:rPr spc="-800" dirty="0"/>
              <a:t> </a:t>
            </a:r>
            <a:r>
              <a:rPr spc="-810" dirty="0"/>
              <a:t>us</a:t>
            </a:r>
            <a:r>
              <a:rPr spc="-380" dirty="0"/>
              <a:t> </a:t>
            </a:r>
            <a:r>
              <a:rPr spc="-735" dirty="0"/>
              <a:t>down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130300" y="3025165"/>
            <a:ext cx="16002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40" dirty="0">
                <a:solidFill>
                  <a:srgbClr val="163A26"/>
                </a:solidFill>
                <a:latin typeface="Arial"/>
                <a:cs typeface="Arial"/>
              </a:rPr>
              <a:t>KEY</a:t>
            </a:r>
            <a:r>
              <a:rPr sz="2400" b="1" spc="-8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400" b="1" spc="-65" dirty="0">
                <a:solidFill>
                  <a:srgbClr val="163A26"/>
                </a:solidFill>
                <a:latin typeface="Arial"/>
                <a:cs typeface="Arial"/>
              </a:rPr>
              <a:t>RISKS</a:t>
            </a:r>
            <a:endParaRPr sz="24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143000" y="3619500"/>
            <a:ext cx="3810000" cy="1333500"/>
          </a:xfrm>
          <a:custGeom>
            <a:avLst/>
            <a:gdLst/>
            <a:ahLst/>
            <a:cxnLst/>
            <a:rect l="l" t="t" r="r" b="b"/>
            <a:pathLst>
              <a:path w="3810000" h="1333500">
                <a:moveTo>
                  <a:pt x="3143249" y="1333499"/>
                </a:moveTo>
                <a:lnTo>
                  <a:pt x="666749" y="1333499"/>
                </a:lnTo>
                <a:lnTo>
                  <a:pt x="650382" y="1333299"/>
                </a:lnTo>
                <a:lnTo>
                  <a:pt x="601397" y="1330289"/>
                </a:lnTo>
                <a:lnTo>
                  <a:pt x="552765" y="1323684"/>
                </a:lnTo>
                <a:lnTo>
                  <a:pt x="504742" y="1313518"/>
                </a:lnTo>
                <a:lnTo>
                  <a:pt x="457597" y="1299846"/>
                </a:lnTo>
                <a:lnTo>
                  <a:pt x="411595" y="1282746"/>
                </a:lnTo>
                <a:lnTo>
                  <a:pt x="366975" y="1262309"/>
                </a:lnTo>
                <a:lnTo>
                  <a:pt x="323971" y="1238640"/>
                </a:lnTo>
                <a:lnTo>
                  <a:pt x="282825" y="1211871"/>
                </a:lnTo>
                <a:lnTo>
                  <a:pt x="243768" y="1182154"/>
                </a:lnTo>
                <a:lnTo>
                  <a:pt x="207002" y="1149645"/>
                </a:lnTo>
                <a:lnTo>
                  <a:pt x="172720" y="1114512"/>
                </a:lnTo>
                <a:lnTo>
                  <a:pt x="141116" y="1076951"/>
                </a:lnTo>
                <a:lnTo>
                  <a:pt x="112367" y="1037176"/>
                </a:lnTo>
                <a:lnTo>
                  <a:pt x="86621" y="995394"/>
                </a:lnTo>
                <a:lnTo>
                  <a:pt x="64014" y="951822"/>
                </a:lnTo>
                <a:lnTo>
                  <a:pt x="44675" y="906705"/>
                </a:lnTo>
                <a:lnTo>
                  <a:pt x="28710" y="860297"/>
                </a:lnTo>
                <a:lnTo>
                  <a:pt x="16201" y="812840"/>
                </a:lnTo>
                <a:lnTo>
                  <a:pt x="7216" y="764582"/>
                </a:lnTo>
                <a:lnTo>
                  <a:pt x="1805" y="715794"/>
                </a:lnTo>
                <a:lnTo>
                  <a:pt x="0" y="666749"/>
                </a:lnTo>
                <a:lnTo>
                  <a:pt x="200" y="650382"/>
                </a:lnTo>
                <a:lnTo>
                  <a:pt x="3210" y="601397"/>
                </a:lnTo>
                <a:lnTo>
                  <a:pt x="9815" y="552765"/>
                </a:lnTo>
                <a:lnTo>
                  <a:pt x="19981" y="504742"/>
                </a:lnTo>
                <a:lnTo>
                  <a:pt x="33653" y="457597"/>
                </a:lnTo>
                <a:lnTo>
                  <a:pt x="50753" y="411595"/>
                </a:lnTo>
                <a:lnTo>
                  <a:pt x="71190" y="366975"/>
                </a:lnTo>
                <a:lnTo>
                  <a:pt x="94859" y="323971"/>
                </a:lnTo>
                <a:lnTo>
                  <a:pt x="121627" y="282825"/>
                </a:lnTo>
                <a:lnTo>
                  <a:pt x="151345" y="243768"/>
                </a:lnTo>
                <a:lnTo>
                  <a:pt x="183854" y="207002"/>
                </a:lnTo>
                <a:lnTo>
                  <a:pt x="218987" y="172720"/>
                </a:lnTo>
                <a:lnTo>
                  <a:pt x="256547" y="141116"/>
                </a:lnTo>
                <a:lnTo>
                  <a:pt x="296323" y="112367"/>
                </a:lnTo>
                <a:lnTo>
                  <a:pt x="338105" y="86621"/>
                </a:lnTo>
                <a:lnTo>
                  <a:pt x="381677" y="64014"/>
                </a:lnTo>
                <a:lnTo>
                  <a:pt x="426794" y="44675"/>
                </a:lnTo>
                <a:lnTo>
                  <a:pt x="473202" y="28710"/>
                </a:lnTo>
                <a:lnTo>
                  <a:pt x="520659" y="16201"/>
                </a:lnTo>
                <a:lnTo>
                  <a:pt x="568917" y="7216"/>
                </a:lnTo>
                <a:lnTo>
                  <a:pt x="617705" y="1805"/>
                </a:lnTo>
                <a:lnTo>
                  <a:pt x="666749" y="0"/>
                </a:lnTo>
                <a:lnTo>
                  <a:pt x="3143249" y="0"/>
                </a:lnTo>
                <a:lnTo>
                  <a:pt x="3192294" y="1805"/>
                </a:lnTo>
                <a:lnTo>
                  <a:pt x="3241082" y="7216"/>
                </a:lnTo>
                <a:lnTo>
                  <a:pt x="3289340" y="16201"/>
                </a:lnTo>
                <a:lnTo>
                  <a:pt x="3336797" y="28710"/>
                </a:lnTo>
                <a:lnTo>
                  <a:pt x="3383205" y="44675"/>
                </a:lnTo>
                <a:lnTo>
                  <a:pt x="3428321" y="64014"/>
                </a:lnTo>
                <a:lnTo>
                  <a:pt x="3471893" y="86621"/>
                </a:lnTo>
                <a:lnTo>
                  <a:pt x="3513675" y="112367"/>
                </a:lnTo>
                <a:lnTo>
                  <a:pt x="3553451" y="141116"/>
                </a:lnTo>
                <a:lnTo>
                  <a:pt x="3591011" y="172720"/>
                </a:lnTo>
                <a:lnTo>
                  <a:pt x="3626144" y="207002"/>
                </a:lnTo>
                <a:lnTo>
                  <a:pt x="3658654" y="243768"/>
                </a:lnTo>
                <a:lnTo>
                  <a:pt x="3688371" y="282825"/>
                </a:lnTo>
                <a:lnTo>
                  <a:pt x="3715140" y="323971"/>
                </a:lnTo>
                <a:lnTo>
                  <a:pt x="3738809" y="366975"/>
                </a:lnTo>
                <a:lnTo>
                  <a:pt x="3759246" y="411595"/>
                </a:lnTo>
                <a:lnTo>
                  <a:pt x="3776345" y="457597"/>
                </a:lnTo>
                <a:lnTo>
                  <a:pt x="3790018" y="504742"/>
                </a:lnTo>
                <a:lnTo>
                  <a:pt x="3800184" y="552765"/>
                </a:lnTo>
                <a:lnTo>
                  <a:pt x="3806789" y="601397"/>
                </a:lnTo>
                <a:lnTo>
                  <a:pt x="3809799" y="650382"/>
                </a:lnTo>
                <a:lnTo>
                  <a:pt x="3809999" y="666749"/>
                </a:lnTo>
                <a:lnTo>
                  <a:pt x="3809799" y="683117"/>
                </a:lnTo>
                <a:lnTo>
                  <a:pt x="3806789" y="732102"/>
                </a:lnTo>
                <a:lnTo>
                  <a:pt x="3800184" y="780733"/>
                </a:lnTo>
                <a:lnTo>
                  <a:pt x="3790018" y="828757"/>
                </a:lnTo>
                <a:lnTo>
                  <a:pt x="3776345" y="875901"/>
                </a:lnTo>
                <a:lnTo>
                  <a:pt x="3759245" y="921903"/>
                </a:lnTo>
                <a:lnTo>
                  <a:pt x="3738808" y="966523"/>
                </a:lnTo>
                <a:lnTo>
                  <a:pt x="3715139" y="1009528"/>
                </a:lnTo>
                <a:lnTo>
                  <a:pt x="3688371" y="1050674"/>
                </a:lnTo>
                <a:lnTo>
                  <a:pt x="3658654" y="1089731"/>
                </a:lnTo>
                <a:lnTo>
                  <a:pt x="3626144" y="1126497"/>
                </a:lnTo>
                <a:lnTo>
                  <a:pt x="3591011" y="1160779"/>
                </a:lnTo>
                <a:lnTo>
                  <a:pt x="3553451" y="1192383"/>
                </a:lnTo>
                <a:lnTo>
                  <a:pt x="3513675" y="1221132"/>
                </a:lnTo>
                <a:lnTo>
                  <a:pt x="3471893" y="1246878"/>
                </a:lnTo>
                <a:lnTo>
                  <a:pt x="3428321" y="1269485"/>
                </a:lnTo>
                <a:lnTo>
                  <a:pt x="3383205" y="1288824"/>
                </a:lnTo>
                <a:lnTo>
                  <a:pt x="3336796" y="1304789"/>
                </a:lnTo>
                <a:lnTo>
                  <a:pt x="3289340" y="1317298"/>
                </a:lnTo>
                <a:lnTo>
                  <a:pt x="3241082" y="1326283"/>
                </a:lnTo>
                <a:lnTo>
                  <a:pt x="3192294" y="1331694"/>
                </a:lnTo>
                <a:lnTo>
                  <a:pt x="3143249" y="13334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2063750" y="4021911"/>
            <a:ext cx="1964689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45" dirty="0">
                <a:solidFill>
                  <a:srgbClr val="163A26"/>
                </a:solidFill>
                <a:latin typeface="Arial"/>
                <a:cs typeface="Arial"/>
              </a:rPr>
              <a:t>Data</a:t>
            </a:r>
            <a:r>
              <a:rPr sz="2800" b="1" spc="-15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45" dirty="0">
                <a:solidFill>
                  <a:srgbClr val="163A26"/>
                </a:solidFill>
                <a:latin typeface="Arial"/>
                <a:cs typeface="Arial"/>
              </a:rPr>
              <a:t>quality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5210174" y="3619500"/>
            <a:ext cx="3810000" cy="1333500"/>
          </a:xfrm>
          <a:custGeom>
            <a:avLst/>
            <a:gdLst/>
            <a:ahLst/>
            <a:cxnLst/>
            <a:rect l="l" t="t" r="r" b="b"/>
            <a:pathLst>
              <a:path w="3810000" h="1333500">
                <a:moveTo>
                  <a:pt x="3143249" y="1333499"/>
                </a:moveTo>
                <a:lnTo>
                  <a:pt x="666749" y="1333499"/>
                </a:lnTo>
                <a:lnTo>
                  <a:pt x="650382" y="1333299"/>
                </a:lnTo>
                <a:lnTo>
                  <a:pt x="601397" y="1330289"/>
                </a:lnTo>
                <a:lnTo>
                  <a:pt x="552765" y="1323684"/>
                </a:lnTo>
                <a:lnTo>
                  <a:pt x="504742" y="1313518"/>
                </a:lnTo>
                <a:lnTo>
                  <a:pt x="457597" y="1299846"/>
                </a:lnTo>
                <a:lnTo>
                  <a:pt x="411595" y="1282746"/>
                </a:lnTo>
                <a:lnTo>
                  <a:pt x="366975" y="1262309"/>
                </a:lnTo>
                <a:lnTo>
                  <a:pt x="323971" y="1238640"/>
                </a:lnTo>
                <a:lnTo>
                  <a:pt x="282825" y="1211871"/>
                </a:lnTo>
                <a:lnTo>
                  <a:pt x="243768" y="1182154"/>
                </a:lnTo>
                <a:lnTo>
                  <a:pt x="207002" y="1149645"/>
                </a:lnTo>
                <a:lnTo>
                  <a:pt x="172720" y="1114512"/>
                </a:lnTo>
                <a:lnTo>
                  <a:pt x="141116" y="1076951"/>
                </a:lnTo>
                <a:lnTo>
                  <a:pt x="112367" y="1037176"/>
                </a:lnTo>
                <a:lnTo>
                  <a:pt x="86621" y="995394"/>
                </a:lnTo>
                <a:lnTo>
                  <a:pt x="64014" y="951822"/>
                </a:lnTo>
                <a:lnTo>
                  <a:pt x="44675" y="906705"/>
                </a:lnTo>
                <a:lnTo>
                  <a:pt x="28710" y="860297"/>
                </a:lnTo>
                <a:lnTo>
                  <a:pt x="16201" y="812840"/>
                </a:lnTo>
                <a:lnTo>
                  <a:pt x="7216" y="764582"/>
                </a:lnTo>
                <a:lnTo>
                  <a:pt x="1805" y="715794"/>
                </a:lnTo>
                <a:lnTo>
                  <a:pt x="0" y="666749"/>
                </a:lnTo>
                <a:lnTo>
                  <a:pt x="200" y="650382"/>
                </a:lnTo>
                <a:lnTo>
                  <a:pt x="3210" y="601397"/>
                </a:lnTo>
                <a:lnTo>
                  <a:pt x="9815" y="552765"/>
                </a:lnTo>
                <a:lnTo>
                  <a:pt x="19981" y="504742"/>
                </a:lnTo>
                <a:lnTo>
                  <a:pt x="33653" y="457597"/>
                </a:lnTo>
                <a:lnTo>
                  <a:pt x="50753" y="411595"/>
                </a:lnTo>
                <a:lnTo>
                  <a:pt x="71190" y="366975"/>
                </a:lnTo>
                <a:lnTo>
                  <a:pt x="94859" y="323971"/>
                </a:lnTo>
                <a:lnTo>
                  <a:pt x="121627" y="282825"/>
                </a:lnTo>
                <a:lnTo>
                  <a:pt x="151345" y="243768"/>
                </a:lnTo>
                <a:lnTo>
                  <a:pt x="183854" y="207002"/>
                </a:lnTo>
                <a:lnTo>
                  <a:pt x="218987" y="172720"/>
                </a:lnTo>
                <a:lnTo>
                  <a:pt x="256547" y="141116"/>
                </a:lnTo>
                <a:lnTo>
                  <a:pt x="296323" y="112367"/>
                </a:lnTo>
                <a:lnTo>
                  <a:pt x="338105" y="86621"/>
                </a:lnTo>
                <a:lnTo>
                  <a:pt x="381677" y="64014"/>
                </a:lnTo>
                <a:lnTo>
                  <a:pt x="426794" y="44675"/>
                </a:lnTo>
                <a:lnTo>
                  <a:pt x="473202" y="28710"/>
                </a:lnTo>
                <a:lnTo>
                  <a:pt x="520659" y="16201"/>
                </a:lnTo>
                <a:lnTo>
                  <a:pt x="568917" y="7216"/>
                </a:lnTo>
                <a:lnTo>
                  <a:pt x="617705" y="1805"/>
                </a:lnTo>
                <a:lnTo>
                  <a:pt x="666749" y="0"/>
                </a:lnTo>
                <a:lnTo>
                  <a:pt x="3143249" y="0"/>
                </a:lnTo>
                <a:lnTo>
                  <a:pt x="3192294" y="1805"/>
                </a:lnTo>
                <a:lnTo>
                  <a:pt x="3241082" y="7216"/>
                </a:lnTo>
                <a:lnTo>
                  <a:pt x="3289340" y="16201"/>
                </a:lnTo>
                <a:lnTo>
                  <a:pt x="3336797" y="28710"/>
                </a:lnTo>
                <a:lnTo>
                  <a:pt x="3383205" y="44675"/>
                </a:lnTo>
                <a:lnTo>
                  <a:pt x="3428321" y="64014"/>
                </a:lnTo>
                <a:lnTo>
                  <a:pt x="3471893" y="86621"/>
                </a:lnTo>
                <a:lnTo>
                  <a:pt x="3513675" y="112367"/>
                </a:lnTo>
                <a:lnTo>
                  <a:pt x="3553451" y="141116"/>
                </a:lnTo>
                <a:lnTo>
                  <a:pt x="3591011" y="172720"/>
                </a:lnTo>
                <a:lnTo>
                  <a:pt x="3626144" y="207002"/>
                </a:lnTo>
                <a:lnTo>
                  <a:pt x="3658654" y="243768"/>
                </a:lnTo>
                <a:lnTo>
                  <a:pt x="3688371" y="282825"/>
                </a:lnTo>
                <a:lnTo>
                  <a:pt x="3715140" y="323971"/>
                </a:lnTo>
                <a:lnTo>
                  <a:pt x="3738809" y="366975"/>
                </a:lnTo>
                <a:lnTo>
                  <a:pt x="3759246" y="411595"/>
                </a:lnTo>
                <a:lnTo>
                  <a:pt x="3776345" y="457597"/>
                </a:lnTo>
                <a:lnTo>
                  <a:pt x="3790018" y="504742"/>
                </a:lnTo>
                <a:lnTo>
                  <a:pt x="3800184" y="552765"/>
                </a:lnTo>
                <a:lnTo>
                  <a:pt x="3806789" y="601397"/>
                </a:lnTo>
                <a:lnTo>
                  <a:pt x="3809799" y="650382"/>
                </a:lnTo>
                <a:lnTo>
                  <a:pt x="3809999" y="666749"/>
                </a:lnTo>
                <a:lnTo>
                  <a:pt x="3809799" y="683117"/>
                </a:lnTo>
                <a:lnTo>
                  <a:pt x="3806789" y="732102"/>
                </a:lnTo>
                <a:lnTo>
                  <a:pt x="3800184" y="780733"/>
                </a:lnTo>
                <a:lnTo>
                  <a:pt x="3790018" y="828757"/>
                </a:lnTo>
                <a:lnTo>
                  <a:pt x="3776345" y="875901"/>
                </a:lnTo>
                <a:lnTo>
                  <a:pt x="3759245" y="921903"/>
                </a:lnTo>
                <a:lnTo>
                  <a:pt x="3738808" y="966523"/>
                </a:lnTo>
                <a:lnTo>
                  <a:pt x="3715139" y="1009528"/>
                </a:lnTo>
                <a:lnTo>
                  <a:pt x="3688371" y="1050674"/>
                </a:lnTo>
                <a:lnTo>
                  <a:pt x="3658654" y="1089731"/>
                </a:lnTo>
                <a:lnTo>
                  <a:pt x="3626144" y="1126497"/>
                </a:lnTo>
                <a:lnTo>
                  <a:pt x="3591011" y="1160779"/>
                </a:lnTo>
                <a:lnTo>
                  <a:pt x="3553451" y="1192383"/>
                </a:lnTo>
                <a:lnTo>
                  <a:pt x="3513675" y="1221132"/>
                </a:lnTo>
                <a:lnTo>
                  <a:pt x="3471893" y="1246878"/>
                </a:lnTo>
                <a:lnTo>
                  <a:pt x="3428321" y="1269485"/>
                </a:lnTo>
                <a:lnTo>
                  <a:pt x="3383205" y="1288824"/>
                </a:lnTo>
                <a:lnTo>
                  <a:pt x="3336796" y="1304789"/>
                </a:lnTo>
                <a:lnTo>
                  <a:pt x="3289340" y="1317298"/>
                </a:lnTo>
                <a:lnTo>
                  <a:pt x="3241082" y="1326283"/>
                </a:lnTo>
                <a:lnTo>
                  <a:pt x="3192294" y="1331694"/>
                </a:lnTo>
                <a:lnTo>
                  <a:pt x="3143249" y="13334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6159499" y="3754282"/>
            <a:ext cx="1907539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261620">
              <a:lnSpc>
                <a:spcPct val="109400"/>
              </a:lnSpc>
              <a:spcBef>
                <a:spcPts val="95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Weather </a:t>
            </a:r>
            <a:r>
              <a:rPr sz="2800" b="1" spc="-40" dirty="0">
                <a:solidFill>
                  <a:srgbClr val="163A26"/>
                </a:solidFill>
                <a:latin typeface="Arial"/>
                <a:cs typeface="Arial"/>
              </a:rPr>
              <a:t>uncertainty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267825" y="3619500"/>
            <a:ext cx="3810000" cy="1333500"/>
          </a:xfrm>
          <a:custGeom>
            <a:avLst/>
            <a:gdLst/>
            <a:ahLst/>
            <a:cxnLst/>
            <a:rect l="l" t="t" r="r" b="b"/>
            <a:pathLst>
              <a:path w="3810000" h="1333500">
                <a:moveTo>
                  <a:pt x="3143249" y="1333499"/>
                </a:moveTo>
                <a:lnTo>
                  <a:pt x="666749" y="1333499"/>
                </a:lnTo>
                <a:lnTo>
                  <a:pt x="650382" y="1333299"/>
                </a:lnTo>
                <a:lnTo>
                  <a:pt x="601397" y="1330289"/>
                </a:lnTo>
                <a:lnTo>
                  <a:pt x="552765" y="1323684"/>
                </a:lnTo>
                <a:lnTo>
                  <a:pt x="504742" y="1313518"/>
                </a:lnTo>
                <a:lnTo>
                  <a:pt x="457597" y="1299846"/>
                </a:lnTo>
                <a:lnTo>
                  <a:pt x="411595" y="1282746"/>
                </a:lnTo>
                <a:lnTo>
                  <a:pt x="366975" y="1262309"/>
                </a:lnTo>
                <a:lnTo>
                  <a:pt x="323971" y="1238640"/>
                </a:lnTo>
                <a:lnTo>
                  <a:pt x="282825" y="1211871"/>
                </a:lnTo>
                <a:lnTo>
                  <a:pt x="243768" y="1182154"/>
                </a:lnTo>
                <a:lnTo>
                  <a:pt x="207002" y="1149645"/>
                </a:lnTo>
                <a:lnTo>
                  <a:pt x="172720" y="1114512"/>
                </a:lnTo>
                <a:lnTo>
                  <a:pt x="141116" y="1076951"/>
                </a:lnTo>
                <a:lnTo>
                  <a:pt x="112367" y="1037176"/>
                </a:lnTo>
                <a:lnTo>
                  <a:pt x="86621" y="995394"/>
                </a:lnTo>
                <a:lnTo>
                  <a:pt x="64014" y="951822"/>
                </a:lnTo>
                <a:lnTo>
                  <a:pt x="44675" y="906705"/>
                </a:lnTo>
                <a:lnTo>
                  <a:pt x="28710" y="860297"/>
                </a:lnTo>
                <a:lnTo>
                  <a:pt x="16201" y="812840"/>
                </a:lnTo>
                <a:lnTo>
                  <a:pt x="7216" y="764582"/>
                </a:lnTo>
                <a:lnTo>
                  <a:pt x="1805" y="715794"/>
                </a:lnTo>
                <a:lnTo>
                  <a:pt x="0" y="666749"/>
                </a:lnTo>
                <a:lnTo>
                  <a:pt x="200" y="650382"/>
                </a:lnTo>
                <a:lnTo>
                  <a:pt x="3210" y="601397"/>
                </a:lnTo>
                <a:lnTo>
                  <a:pt x="9815" y="552765"/>
                </a:lnTo>
                <a:lnTo>
                  <a:pt x="19981" y="504742"/>
                </a:lnTo>
                <a:lnTo>
                  <a:pt x="33653" y="457597"/>
                </a:lnTo>
                <a:lnTo>
                  <a:pt x="50753" y="411595"/>
                </a:lnTo>
                <a:lnTo>
                  <a:pt x="71190" y="366975"/>
                </a:lnTo>
                <a:lnTo>
                  <a:pt x="94859" y="323971"/>
                </a:lnTo>
                <a:lnTo>
                  <a:pt x="121627" y="282825"/>
                </a:lnTo>
                <a:lnTo>
                  <a:pt x="151345" y="243768"/>
                </a:lnTo>
                <a:lnTo>
                  <a:pt x="183854" y="207002"/>
                </a:lnTo>
                <a:lnTo>
                  <a:pt x="218987" y="172720"/>
                </a:lnTo>
                <a:lnTo>
                  <a:pt x="256547" y="141116"/>
                </a:lnTo>
                <a:lnTo>
                  <a:pt x="296323" y="112367"/>
                </a:lnTo>
                <a:lnTo>
                  <a:pt x="338105" y="86621"/>
                </a:lnTo>
                <a:lnTo>
                  <a:pt x="381677" y="64014"/>
                </a:lnTo>
                <a:lnTo>
                  <a:pt x="426794" y="44675"/>
                </a:lnTo>
                <a:lnTo>
                  <a:pt x="473202" y="28710"/>
                </a:lnTo>
                <a:lnTo>
                  <a:pt x="520659" y="16201"/>
                </a:lnTo>
                <a:lnTo>
                  <a:pt x="568917" y="7216"/>
                </a:lnTo>
                <a:lnTo>
                  <a:pt x="617705" y="1805"/>
                </a:lnTo>
                <a:lnTo>
                  <a:pt x="666749" y="0"/>
                </a:lnTo>
                <a:lnTo>
                  <a:pt x="3143249" y="0"/>
                </a:lnTo>
                <a:lnTo>
                  <a:pt x="3192294" y="1805"/>
                </a:lnTo>
                <a:lnTo>
                  <a:pt x="3241082" y="7216"/>
                </a:lnTo>
                <a:lnTo>
                  <a:pt x="3289340" y="16201"/>
                </a:lnTo>
                <a:lnTo>
                  <a:pt x="3336797" y="28710"/>
                </a:lnTo>
                <a:lnTo>
                  <a:pt x="3383205" y="44675"/>
                </a:lnTo>
                <a:lnTo>
                  <a:pt x="3428321" y="64014"/>
                </a:lnTo>
                <a:lnTo>
                  <a:pt x="3471893" y="86621"/>
                </a:lnTo>
                <a:lnTo>
                  <a:pt x="3513675" y="112367"/>
                </a:lnTo>
                <a:lnTo>
                  <a:pt x="3553451" y="141116"/>
                </a:lnTo>
                <a:lnTo>
                  <a:pt x="3591011" y="172720"/>
                </a:lnTo>
                <a:lnTo>
                  <a:pt x="3626144" y="207002"/>
                </a:lnTo>
                <a:lnTo>
                  <a:pt x="3658654" y="243768"/>
                </a:lnTo>
                <a:lnTo>
                  <a:pt x="3688371" y="282825"/>
                </a:lnTo>
                <a:lnTo>
                  <a:pt x="3715140" y="323971"/>
                </a:lnTo>
                <a:lnTo>
                  <a:pt x="3738809" y="366975"/>
                </a:lnTo>
                <a:lnTo>
                  <a:pt x="3759246" y="411595"/>
                </a:lnTo>
                <a:lnTo>
                  <a:pt x="3776345" y="457597"/>
                </a:lnTo>
                <a:lnTo>
                  <a:pt x="3790018" y="504742"/>
                </a:lnTo>
                <a:lnTo>
                  <a:pt x="3800184" y="552765"/>
                </a:lnTo>
                <a:lnTo>
                  <a:pt x="3806789" y="601397"/>
                </a:lnTo>
                <a:lnTo>
                  <a:pt x="3809799" y="650382"/>
                </a:lnTo>
                <a:lnTo>
                  <a:pt x="3809999" y="666749"/>
                </a:lnTo>
                <a:lnTo>
                  <a:pt x="3809799" y="683117"/>
                </a:lnTo>
                <a:lnTo>
                  <a:pt x="3806789" y="732102"/>
                </a:lnTo>
                <a:lnTo>
                  <a:pt x="3800184" y="780733"/>
                </a:lnTo>
                <a:lnTo>
                  <a:pt x="3790018" y="828757"/>
                </a:lnTo>
                <a:lnTo>
                  <a:pt x="3776345" y="875901"/>
                </a:lnTo>
                <a:lnTo>
                  <a:pt x="3759245" y="921903"/>
                </a:lnTo>
                <a:lnTo>
                  <a:pt x="3738808" y="966523"/>
                </a:lnTo>
                <a:lnTo>
                  <a:pt x="3715139" y="1009528"/>
                </a:lnTo>
                <a:lnTo>
                  <a:pt x="3688371" y="1050674"/>
                </a:lnTo>
                <a:lnTo>
                  <a:pt x="3658654" y="1089731"/>
                </a:lnTo>
                <a:lnTo>
                  <a:pt x="3626144" y="1126497"/>
                </a:lnTo>
                <a:lnTo>
                  <a:pt x="3591011" y="1160779"/>
                </a:lnTo>
                <a:lnTo>
                  <a:pt x="3553451" y="1192383"/>
                </a:lnTo>
                <a:lnTo>
                  <a:pt x="3513675" y="1221132"/>
                </a:lnTo>
                <a:lnTo>
                  <a:pt x="3471893" y="1246878"/>
                </a:lnTo>
                <a:lnTo>
                  <a:pt x="3428321" y="1269485"/>
                </a:lnTo>
                <a:lnTo>
                  <a:pt x="3383205" y="1288824"/>
                </a:lnTo>
                <a:lnTo>
                  <a:pt x="3336796" y="1304789"/>
                </a:lnTo>
                <a:lnTo>
                  <a:pt x="3289340" y="1317298"/>
                </a:lnTo>
                <a:lnTo>
                  <a:pt x="3241082" y="1326283"/>
                </a:lnTo>
                <a:lnTo>
                  <a:pt x="3192294" y="1331694"/>
                </a:lnTo>
                <a:lnTo>
                  <a:pt x="3143249" y="13334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374311" y="4021911"/>
            <a:ext cx="1594485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160" dirty="0">
                <a:solidFill>
                  <a:srgbClr val="163A26"/>
                </a:solidFill>
                <a:latin typeface="Arial"/>
                <a:cs typeface="Arial"/>
              </a:rPr>
              <a:t>User</a:t>
            </a:r>
            <a:r>
              <a:rPr sz="2800" b="1" spc="-16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163A26"/>
                </a:solidFill>
                <a:latin typeface="Arial"/>
                <a:cs typeface="Arial"/>
              </a:rPr>
              <a:t>trust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3335000" y="3619500"/>
            <a:ext cx="3810000" cy="1333500"/>
          </a:xfrm>
          <a:custGeom>
            <a:avLst/>
            <a:gdLst/>
            <a:ahLst/>
            <a:cxnLst/>
            <a:rect l="l" t="t" r="r" b="b"/>
            <a:pathLst>
              <a:path w="3810000" h="1333500">
                <a:moveTo>
                  <a:pt x="3143249" y="1333499"/>
                </a:moveTo>
                <a:lnTo>
                  <a:pt x="666749" y="1333499"/>
                </a:lnTo>
                <a:lnTo>
                  <a:pt x="650382" y="1333299"/>
                </a:lnTo>
                <a:lnTo>
                  <a:pt x="601397" y="1330289"/>
                </a:lnTo>
                <a:lnTo>
                  <a:pt x="552765" y="1323684"/>
                </a:lnTo>
                <a:lnTo>
                  <a:pt x="504742" y="1313518"/>
                </a:lnTo>
                <a:lnTo>
                  <a:pt x="457597" y="1299846"/>
                </a:lnTo>
                <a:lnTo>
                  <a:pt x="411595" y="1282746"/>
                </a:lnTo>
                <a:lnTo>
                  <a:pt x="366975" y="1262309"/>
                </a:lnTo>
                <a:lnTo>
                  <a:pt x="323971" y="1238640"/>
                </a:lnTo>
                <a:lnTo>
                  <a:pt x="282825" y="1211871"/>
                </a:lnTo>
                <a:lnTo>
                  <a:pt x="243768" y="1182154"/>
                </a:lnTo>
                <a:lnTo>
                  <a:pt x="207002" y="1149645"/>
                </a:lnTo>
                <a:lnTo>
                  <a:pt x="172720" y="1114512"/>
                </a:lnTo>
                <a:lnTo>
                  <a:pt x="141116" y="1076951"/>
                </a:lnTo>
                <a:lnTo>
                  <a:pt x="112367" y="1037176"/>
                </a:lnTo>
                <a:lnTo>
                  <a:pt x="86621" y="995394"/>
                </a:lnTo>
                <a:lnTo>
                  <a:pt x="64014" y="951822"/>
                </a:lnTo>
                <a:lnTo>
                  <a:pt x="44675" y="906705"/>
                </a:lnTo>
                <a:lnTo>
                  <a:pt x="28710" y="860297"/>
                </a:lnTo>
                <a:lnTo>
                  <a:pt x="16201" y="812840"/>
                </a:lnTo>
                <a:lnTo>
                  <a:pt x="7216" y="764582"/>
                </a:lnTo>
                <a:lnTo>
                  <a:pt x="1805" y="715794"/>
                </a:lnTo>
                <a:lnTo>
                  <a:pt x="0" y="666749"/>
                </a:lnTo>
                <a:lnTo>
                  <a:pt x="200" y="650382"/>
                </a:lnTo>
                <a:lnTo>
                  <a:pt x="3210" y="601397"/>
                </a:lnTo>
                <a:lnTo>
                  <a:pt x="9815" y="552765"/>
                </a:lnTo>
                <a:lnTo>
                  <a:pt x="19981" y="504742"/>
                </a:lnTo>
                <a:lnTo>
                  <a:pt x="33653" y="457597"/>
                </a:lnTo>
                <a:lnTo>
                  <a:pt x="50753" y="411595"/>
                </a:lnTo>
                <a:lnTo>
                  <a:pt x="71190" y="366975"/>
                </a:lnTo>
                <a:lnTo>
                  <a:pt x="94859" y="323971"/>
                </a:lnTo>
                <a:lnTo>
                  <a:pt x="121627" y="282825"/>
                </a:lnTo>
                <a:lnTo>
                  <a:pt x="151345" y="243768"/>
                </a:lnTo>
                <a:lnTo>
                  <a:pt x="183854" y="207002"/>
                </a:lnTo>
                <a:lnTo>
                  <a:pt x="218987" y="172720"/>
                </a:lnTo>
                <a:lnTo>
                  <a:pt x="256547" y="141116"/>
                </a:lnTo>
                <a:lnTo>
                  <a:pt x="296323" y="112367"/>
                </a:lnTo>
                <a:lnTo>
                  <a:pt x="338105" y="86621"/>
                </a:lnTo>
                <a:lnTo>
                  <a:pt x="381677" y="64014"/>
                </a:lnTo>
                <a:lnTo>
                  <a:pt x="426794" y="44675"/>
                </a:lnTo>
                <a:lnTo>
                  <a:pt x="473202" y="28710"/>
                </a:lnTo>
                <a:lnTo>
                  <a:pt x="520659" y="16201"/>
                </a:lnTo>
                <a:lnTo>
                  <a:pt x="568917" y="7216"/>
                </a:lnTo>
                <a:lnTo>
                  <a:pt x="617705" y="1805"/>
                </a:lnTo>
                <a:lnTo>
                  <a:pt x="666749" y="0"/>
                </a:lnTo>
                <a:lnTo>
                  <a:pt x="3143249" y="0"/>
                </a:lnTo>
                <a:lnTo>
                  <a:pt x="3192294" y="1805"/>
                </a:lnTo>
                <a:lnTo>
                  <a:pt x="3241082" y="7216"/>
                </a:lnTo>
                <a:lnTo>
                  <a:pt x="3289340" y="16201"/>
                </a:lnTo>
                <a:lnTo>
                  <a:pt x="3336797" y="28710"/>
                </a:lnTo>
                <a:lnTo>
                  <a:pt x="3383205" y="44675"/>
                </a:lnTo>
                <a:lnTo>
                  <a:pt x="3428321" y="64014"/>
                </a:lnTo>
                <a:lnTo>
                  <a:pt x="3471893" y="86621"/>
                </a:lnTo>
                <a:lnTo>
                  <a:pt x="3513675" y="112367"/>
                </a:lnTo>
                <a:lnTo>
                  <a:pt x="3553451" y="141116"/>
                </a:lnTo>
                <a:lnTo>
                  <a:pt x="3591011" y="172720"/>
                </a:lnTo>
                <a:lnTo>
                  <a:pt x="3626144" y="207002"/>
                </a:lnTo>
                <a:lnTo>
                  <a:pt x="3658654" y="243768"/>
                </a:lnTo>
                <a:lnTo>
                  <a:pt x="3688371" y="282825"/>
                </a:lnTo>
                <a:lnTo>
                  <a:pt x="3715140" y="323971"/>
                </a:lnTo>
                <a:lnTo>
                  <a:pt x="3738809" y="366975"/>
                </a:lnTo>
                <a:lnTo>
                  <a:pt x="3759246" y="411595"/>
                </a:lnTo>
                <a:lnTo>
                  <a:pt x="3776345" y="457597"/>
                </a:lnTo>
                <a:lnTo>
                  <a:pt x="3790018" y="504742"/>
                </a:lnTo>
                <a:lnTo>
                  <a:pt x="3800184" y="552765"/>
                </a:lnTo>
                <a:lnTo>
                  <a:pt x="3806789" y="601397"/>
                </a:lnTo>
                <a:lnTo>
                  <a:pt x="3809799" y="650382"/>
                </a:lnTo>
                <a:lnTo>
                  <a:pt x="3809999" y="666749"/>
                </a:lnTo>
                <a:lnTo>
                  <a:pt x="3809799" y="683117"/>
                </a:lnTo>
                <a:lnTo>
                  <a:pt x="3806789" y="732102"/>
                </a:lnTo>
                <a:lnTo>
                  <a:pt x="3800184" y="780733"/>
                </a:lnTo>
                <a:lnTo>
                  <a:pt x="3790018" y="828757"/>
                </a:lnTo>
                <a:lnTo>
                  <a:pt x="3776345" y="875901"/>
                </a:lnTo>
                <a:lnTo>
                  <a:pt x="3759245" y="921903"/>
                </a:lnTo>
                <a:lnTo>
                  <a:pt x="3738808" y="966523"/>
                </a:lnTo>
                <a:lnTo>
                  <a:pt x="3715139" y="1009528"/>
                </a:lnTo>
                <a:lnTo>
                  <a:pt x="3688371" y="1050674"/>
                </a:lnTo>
                <a:lnTo>
                  <a:pt x="3658654" y="1089731"/>
                </a:lnTo>
                <a:lnTo>
                  <a:pt x="3626144" y="1126497"/>
                </a:lnTo>
                <a:lnTo>
                  <a:pt x="3591011" y="1160779"/>
                </a:lnTo>
                <a:lnTo>
                  <a:pt x="3553451" y="1192383"/>
                </a:lnTo>
                <a:lnTo>
                  <a:pt x="3513675" y="1221132"/>
                </a:lnTo>
                <a:lnTo>
                  <a:pt x="3471893" y="1246878"/>
                </a:lnTo>
                <a:lnTo>
                  <a:pt x="3428321" y="1269485"/>
                </a:lnTo>
                <a:lnTo>
                  <a:pt x="3383205" y="1288824"/>
                </a:lnTo>
                <a:lnTo>
                  <a:pt x="3336796" y="1304789"/>
                </a:lnTo>
                <a:lnTo>
                  <a:pt x="3289340" y="1317298"/>
                </a:lnTo>
                <a:lnTo>
                  <a:pt x="3241082" y="1326283"/>
                </a:lnTo>
                <a:lnTo>
                  <a:pt x="3192294" y="1331694"/>
                </a:lnTo>
                <a:lnTo>
                  <a:pt x="3143249" y="13334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4193837" y="4021911"/>
            <a:ext cx="2088514" cy="4533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800" b="1" spc="-55" dirty="0">
                <a:solidFill>
                  <a:srgbClr val="163A26"/>
                </a:solidFill>
                <a:latin typeface="Arial"/>
                <a:cs typeface="Arial"/>
              </a:rPr>
              <a:t>Connectivity</a:t>
            </a:r>
            <a:endParaRPr sz="2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30300" y="5596914"/>
            <a:ext cx="24212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5" dirty="0">
                <a:solidFill>
                  <a:srgbClr val="163A26"/>
                </a:solidFill>
                <a:latin typeface="Arial"/>
                <a:cs typeface="Arial"/>
              </a:rPr>
              <a:t>CURRENT </a:t>
            </a:r>
            <a:r>
              <a:rPr sz="2400" b="1" spc="-35" dirty="0">
                <a:solidFill>
                  <a:srgbClr val="163A26"/>
                </a:solidFill>
                <a:latin typeface="Arial"/>
                <a:cs typeface="Arial"/>
              </a:rPr>
              <a:t>GAPS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130300" y="6078382"/>
            <a:ext cx="7430134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Local</a:t>
            </a:r>
            <a:r>
              <a:rPr sz="2800" spc="-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datasets, explainable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recommendations,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2E3B33"/>
                </a:solidFill>
                <a:latin typeface="Arial"/>
                <a:cs typeface="Arial"/>
              </a:rPr>
              <a:t>and </a:t>
            </a:r>
            <a:r>
              <a:rPr sz="2800" spc="-85" dirty="0">
                <a:solidFill>
                  <a:srgbClr val="2E3B33"/>
                </a:solidFill>
                <a:latin typeface="Arial"/>
                <a:cs typeface="Arial"/>
              </a:rPr>
              <a:t>reliable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95" dirty="0">
                <a:solidFill>
                  <a:srgbClr val="2E3B33"/>
                </a:solidFill>
                <a:latin typeface="Arial"/>
                <a:cs typeface="Arial"/>
              </a:rPr>
              <a:t>market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2E3B33"/>
                </a:solidFill>
                <a:latin typeface="Arial"/>
                <a:cs typeface="Arial"/>
              </a:rPr>
              <a:t>context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20" dirty="0">
                <a:solidFill>
                  <a:srgbClr val="2E3B33"/>
                </a:solidFill>
                <a:latin typeface="Arial"/>
                <a:cs typeface="Arial"/>
              </a:rPr>
              <a:t>may</a:t>
            </a:r>
            <a:r>
              <a:rPr sz="2800" spc="-12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5" dirty="0">
                <a:solidFill>
                  <a:srgbClr val="2E3B33"/>
                </a:solidFill>
                <a:latin typeface="Arial"/>
                <a:cs typeface="Arial"/>
              </a:rPr>
              <a:t>be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limited.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9524999" y="5619749"/>
            <a:ext cx="7620000" cy="2857500"/>
          </a:xfrm>
          <a:custGeom>
            <a:avLst/>
            <a:gdLst/>
            <a:ahLst/>
            <a:cxnLst/>
            <a:rect l="l" t="t" r="r" b="b"/>
            <a:pathLst>
              <a:path w="7620000" h="2857500">
                <a:moveTo>
                  <a:pt x="7398886" y="2857499"/>
                </a:moveTo>
                <a:lnTo>
                  <a:pt x="221113" y="2857499"/>
                </a:lnTo>
                <a:lnTo>
                  <a:pt x="213644" y="2857132"/>
                </a:lnTo>
                <a:lnTo>
                  <a:pt x="169405" y="2849829"/>
                </a:lnTo>
                <a:lnTo>
                  <a:pt x="127441" y="2834036"/>
                </a:lnTo>
                <a:lnTo>
                  <a:pt x="89365" y="2810359"/>
                </a:lnTo>
                <a:lnTo>
                  <a:pt x="56639" y="2779709"/>
                </a:lnTo>
                <a:lnTo>
                  <a:pt x="30522" y="2743263"/>
                </a:lnTo>
                <a:lnTo>
                  <a:pt x="12016" y="2702423"/>
                </a:lnTo>
                <a:lnTo>
                  <a:pt x="1834" y="2658757"/>
                </a:lnTo>
                <a:lnTo>
                  <a:pt x="0" y="2636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7398886" y="0"/>
                </a:lnTo>
                <a:lnTo>
                  <a:pt x="7443339" y="5853"/>
                </a:lnTo>
                <a:lnTo>
                  <a:pt x="7485797" y="20266"/>
                </a:lnTo>
                <a:lnTo>
                  <a:pt x="7524627" y="42685"/>
                </a:lnTo>
                <a:lnTo>
                  <a:pt x="7558338" y="72249"/>
                </a:lnTo>
                <a:lnTo>
                  <a:pt x="7585632" y="107821"/>
                </a:lnTo>
                <a:lnTo>
                  <a:pt x="7605463" y="148035"/>
                </a:lnTo>
                <a:lnTo>
                  <a:pt x="7617067" y="191345"/>
                </a:lnTo>
                <a:lnTo>
                  <a:pt x="7619999" y="221113"/>
                </a:lnTo>
                <a:lnTo>
                  <a:pt x="7619999" y="2636386"/>
                </a:lnTo>
                <a:lnTo>
                  <a:pt x="7614145" y="2680840"/>
                </a:lnTo>
                <a:lnTo>
                  <a:pt x="7599732" y="2723298"/>
                </a:lnTo>
                <a:lnTo>
                  <a:pt x="7577313" y="2762128"/>
                </a:lnTo>
                <a:lnTo>
                  <a:pt x="7547749" y="2795838"/>
                </a:lnTo>
                <a:lnTo>
                  <a:pt x="7512177" y="2823133"/>
                </a:lnTo>
                <a:lnTo>
                  <a:pt x="7471963" y="2842963"/>
                </a:lnTo>
                <a:lnTo>
                  <a:pt x="7428654" y="2854567"/>
                </a:lnTo>
                <a:lnTo>
                  <a:pt x="7406355" y="2857132"/>
                </a:lnTo>
                <a:lnTo>
                  <a:pt x="7398886" y="28574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0274299" y="6278407"/>
            <a:ext cx="5399405" cy="1435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10" dirty="0">
                <a:solidFill>
                  <a:srgbClr val="F4EFE3"/>
                </a:solidFill>
                <a:latin typeface="Arial"/>
                <a:cs typeface="Arial"/>
              </a:rPr>
              <a:t>Mitigation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3750"/>
              </a:lnSpc>
              <a:spcBef>
                <a:spcPts val="30"/>
              </a:spcBef>
            </a:pP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Start</a:t>
            </a:r>
            <a:r>
              <a:rPr sz="2800" spc="-14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with</a:t>
            </a:r>
            <a:r>
              <a:rPr sz="2800" spc="-7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F4EFE3"/>
                </a:solidFill>
                <a:latin typeface="Arial"/>
                <a:cs typeface="Arial"/>
              </a:rPr>
              <a:t>transparent</a:t>
            </a:r>
            <a:r>
              <a:rPr sz="2800" spc="-13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90" dirty="0">
                <a:solidFill>
                  <a:srgbClr val="F4EFE3"/>
                </a:solidFill>
                <a:latin typeface="Arial"/>
                <a:cs typeface="Arial"/>
              </a:rPr>
              <a:t>assumptions, </a:t>
            </a:r>
            <a:r>
              <a:rPr sz="2800" spc="-55" dirty="0">
                <a:solidFill>
                  <a:srgbClr val="F4EFE3"/>
                </a:solidFill>
                <a:latin typeface="Arial"/>
                <a:cs typeface="Arial"/>
              </a:rPr>
              <a:t>feedback</a:t>
            </a:r>
            <a:r>
              <a:rPr sz="2800" spc="-12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F4EFE3"/>
                </a:solidFill>
                <a:latin typeface="Arial"/>
                <a:cs typeface="Arial"/>
              </a:rPr>
              <a:t>loops,</a:t>
            </a:r>
            <a:r>
              <a:rPr sz="2800" spc="-12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4EFE3"/>
                </a:solidFill>
                <a:latin typeface="Arial"/>
                <a:cs typeface="Arial"/>
              </a:rPr>
              <a:t>and</a:t>
            </a:r>
            <a:r>
              <a:rPr sz="2800" spc="-13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F4EFE3"/>
                </a:solidFill>
                <a:latin typeface="Arial"/>
                <a:cs typeface="Arial"/>
              </a:rPr>
              <a:t>human</a:t>
            </a:r>
            <a:r>
              <a:rPr sz="2800" spc="-7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review.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" y="0"/>
            <a:ext cx="18287998" cy="1028699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130300" y="1120165"/>
            <a:ext cx="183261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65" dirty="0">
                <a:solidFill>
                  <a:srgbClr val="D9B44A"/>
                </a:solidFill>
                <a:latin typeface="Arial"/>
                <a:cs typeface="Arial"/>
              </a:rPr>
              <a:t>PROTOTYPE</a:t>
            </a:r>
            <a:endParaRPr sz="2400">
              <a:latin typeface="Arial"/>
              <a:cs typeface="Arial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130300" y="1594267"/>
            <a:ext cx="7099300" cy="137795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8850" spc="20" dirty="0">
                <a:solidFill>
                  <a:srgbClr val="F4EFE3"/>
                </a:solidFill>
                <a:latin typeface="Trebuchet MS"/>
                <a:cs typeface="Trebuchet MS"/>
              </a:rPr>
              <a:t>S</a:t>
            </a:r>
            <a:r>
              <a:rPr sz="8850" spc="-725" dirty="0">
                <a:solidFill>
                  <a:srgbClr val="F4EFE3"/>
                </a:solidFill>
                <a:latin typeface="Trebuchet MS"/>
                <a:cs typeface="Trebuchet MS"/>
              </a:rPr>
              <a:t>e</a:t>
            </a:r>
            <a:r>
              <a:rPr sz="8850" spc="-560" dirty="0">
                <a:solidFill>
                  <a:srgbClr val="F4EFE3"/>
                </a:solidFill>
                <a:latin typeface="Trebuchet MS"/>
                <a:cs typeface="Trebuchet MS"/>
              </a:rPr>
              <a:t>e</a:t>
            </a:r>
            <a:r>
              <a:rPr sz="8850" spc="-1160" dirty="0">
                <a:solidFill>
                  <a:srgbClr val="F4EFE3"/>
                </a:solidFill>
                <a:latin typeface="Trebuchet MS"/>
                <a:cs typeface="Trebuchet MS"/>
              </a:rPr>
              <a:t> </a:t>
            </a:r>
            <a:r>
              <a:rPr sz="8850" spc="-254" dirty="0">
                <a:solidFill>
                  <a:srgbClr val="F4EFE3"/>
                </a:solidFill>
                <a:latin typeface="Trebuchet MS"/>
                <a:cs typeface="Trebuchet MS"/>
              </a:rPr>
              <a:t>it</a:t>
            </a:r>
            <a:r>
              <a:rPr sz="8850" spc="-1175" dirty="0">
                <a:solidFill>
                  <a:srgbClr val="F4EFE3"/>
                </a:solidFill>
                <a:latin typeface="Trebuchet MS"/>
                <a:cs typeface="Trebuchet MS"/>
              </a:rPr>
              <a:t> </a:t>
            </a:r>
            <a:r>
              <a:rPr sz="8850" spc="-75" dirty="0">
                <a:solidFill>
                  <a:srgbClr val="F4EFE3"/>
                </a:solidFill>
                <a:latin typeface="Trebuchet MS"/>
                <a:cs typeface="Trebuchet MS"/>
              </a:rPr>
              <a:t>in</a:t>
            </a:r>
            <a:r>
              <a:rPr sz="8850" spc="-1160" dirty="0">
                <a:solidFill>
                  <a:srgbClr val="F4EFE3"/>
                </a:solidFill>
                <a:latin typeface="Trebuchet MS"/>
                <a:cs typeface="Trebuchet MS"/>
              </a:rPr>
              <a:t> </a:t>
            </a:r>
            <a:r>
              <a:rPr sz="8850" spc="-200" dirty="0">
                <a:solidFill>
                  <a:srgbClr val="F4EFE3"/>
                </a:solidFill>
                <a:latin typeface="Trebuchet MS"/>
                <a:cs typeface="Trebuchet MS"/>
              </a:rPr>
              <a:t>action</a:t>
            </a:r>
            <a:endParaRPr sz="885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744200" y="1867037"/>
            <a:ext cx="7424479" cy="5768232"/>
          </a:xfrm>
          <a:custGeom>
            <a:avLst/>
            <a:gdLst/>
            <a:ahLst/>
            <a:cxnLst/>
            <a:rect l="l" t="t" r="r" b="b"/>
            <a:pathLst>
              <a:path w="5334000" h="4000500">
                <a:moveTo>
                  <a:pt x="5112886" y="4000499"/>
                </a:moveTo>
                <a:lnTo>
                  <a:pt x="221113" y="4000499"/>
                </a:lnTo>
                <a:lnTo>
                  <a:pt x="213644" y="4000132"/>
                </a:lnTo>
                <a:lnTo>
                  <a:pt x="169405" y="3992829"/>
                </a:lnTo>
                <a:lnTo>
                  <a:pt x="127441" y="3977035"/>
                </a:lnTo>
                <a:lnTo>
                  <a:pt x="89365" y="3953359"/>
                </a:lnTo>
                <a:lnTo>
                  <a:pt x="56639" y="3922709"/>
                </a:lnTo>
                <a:lnTo>
                  <a:pt x="30522" y="3886263"/>
                </a:lnTo>
                <a:lnTo>
                  <a:pt x="12016" y="3845422"/>
                </a:lnTo>
                <a:lnTo>
                  <a:pt x="1834" y="3801757"/>
                </a:lnTo>
                <a:lnTo>
                  <a:pt x="0" y="3779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5112886" y="0"/>
                </a:lnTo>
                <a:lnTo>
                  <a:pt x="5157339" y="5853"/>
                </a:lnTo>
                <a:lnTo>
                  <a:pt x="5199797" y="20266"/>
                </a:lnTo>
                <a:lnTo>
                  <a:pt x="5238628" y="42685"/>
                </a:lnTo>
                <a:lnTo>
                  <a:pt x="5272337" y="72249"/>
                </a:lnTo>
                <a:lnTo>
                  <a:pt x="5299632" y="107821"/>
                </a:lnTo>
                <a:lnTo>
                  <a:pt x="5319463" y="148035"/>
                </a:lnTo>
                <a:lnTo>
                  <a:pt x="5331067" y="191345"/>
                </a:lnTo>
                <a:lnTo>
                  <a:pt x="5334000" y="221113"/>
                </a:lnTo>
                <a:lnTo>
                  <a:pt x="5334000" y="3779386"/>
                </a:lnTo>
                <a:lnTo>
                  <a:pt x="5328145" y="3823840"/>
                </a:lnTo>
                <a:lnTo>
                  <a:pt x="5313732" y="3866297"/>
                </a:lnTo>
                <a:lnTo>
                  <a:pt x="5291313" y="3905128"/>
                </a:lnTo>
                <a:lnTo>
                  <a:pt x="5261750" y="3938838"/>
                </a:lnTo>
                <a:lnTo>
                  <a:pt x="5226177" y="3966133"/>
                </a:lnTo>
                <a:lnTo>
                  <a:pt x="5185963" y="3985963"/>
                </a:lnTo>
                <a:lnTo>
                  <a:pt x="5142654" y="3997567"/>
                </a:lnTo>
                <a:lnTo>
                  <a:pt x="5120356" y="4000132"/>
                </a:lnTo>
                <a:lnTo>
                  <a:pt x="5112886" y="40004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6" name="object 6"/>
          <p:cNvSpPr txBox="1"/>
          <p:nvPr/>
        </p:nvSpPr>
        <p:spPr>
          <a:xfrm>
            <a:off x="1130300" y="3637553"/>
            <a:ext cx="14430375" cy="2319930"/>
          </a:xfrm>
          <a:prstGeom prst="rect">
            <a:avLst/>
          </a:prstGeom>
        </p:spPr>
        <p:txBody>
          <a:bodyPr vert="horz" wrap="square" lIns="0" tIns="1625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80"/>
              </a:spcBef>
            </a:pPr>
            <a:r>
              <a:rPr sz="2400" b="1" dirty="0">
                <a:solidFill>
                  <a:srgbClr val="D9B44A"/>
                </a:solidFill>
                <a:latin typeface="Arial"/>
                <a:cs typeface="Arial"/>
              </a:rPr>
              <a:t>AI</a:t>
            </a:r>
            <a:r>
              <a:rPr sz="2400" b="1" spc="170" dirty="0">
                <a:solidFill>
                  <a:srgbClr val="D9B44A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D9B44A"/>
                </a:solidFill>
                <a:latin typeface="Arial"/>
                <a:cs typeface="Arial"/>
              </a:rPr>
              <a:t>RECOMMENDATION</a:t>
            </a:r>
            <a:r>
              <a:rPr sz="2400" b="1" spc="195" dirty="0">
                <a:solidFill>
                  <a:srgbClr val="D9B44A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D9B44A"/>
                </a:solidFill>
                <a:latin typeface="Arial"/>
                <a:cs typeface="Arial"/>
              </a:rPr>
              <a:t>FLOW</a:t>
            </a:r>
            <a:endParaRPr sz="2400" dirty="0">
              <a:latin typeface="Arial"/>
              <a:cs typeface="Arial"/>
            </a:endParaRPr>
          </a:p>
          <a:p>
            <a:pPr marL="12700" marR="5045710">
              <a:lnSpc>
                <a:spcPct val="109800"/>
              </a:lnSpc>
              <a:spcBef>
                <a:spcPts val="1235"/>
              </a:spcBef>
            </a:pPr>
            <a:r>
              <a:rPr sz="3300" spc="-175" dirty="0">
                <a:solidFill>
                  <a:srgbClr val="C9D6CC"/>
                </a:solidFill>
                <a:latin typeface="Arial"/>
                <a:cs typeface="Arial"/>
              </a:rPr>
              <a:t>Farmer</a:t>
            </a:r>
            <a:r>
              <a:rPr sz="3300" spc="-11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C9D6CC"/>
                </a:solidFill>
                <a:latin typeface="Arial"/>
                <a:cs typeface="Arial"/>
              </a:rPr>
              <a:t>enters</a:t>
            </a:r>
            <a:r>
              <a:rPr sz="3300" spc="-12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55" dirty="0">
                <a:solidFill>
                  <a:srgbClr val="C9D6CC"/>
                </a:solidFill>
                <a:latin typeface="Arial"/>
                <a:cs typeface="Arial"/>
              </a:rPr>
              <a:t>soil,</a:t>
            </a:r>
            <a:r>
              <a:rPr sz="3300" spc="-140" dirty="0">
                <a:solidFill>
                  <a:srgbClr val="C9D6CC"/>
                </a:solidFill>
                <a:latin typeface="Arial"/>
                <a:cs typeface="Arial"/>
              </a:rPr>
              <a:t> weather,</a:t>
            </a:r>
            <a:r>
              <a:rPr sz="3300" spc="-14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95" dirty="0">
                <a:solidFill>
                  <a:srgbClr val="C9D6CC"/>
                </a:solidFill>
                <a:latin typeface="Arial"/>
                <a:cs typeface="Arial"/>
              </a:rPr>
              <a:t>season,</a:t>
            </a:r>
            <a:r>
              <a:rPr sz="3300" spc="-14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C9D6CC"/>
                </a:solidFill>
                <a:latin typeface="Arial"/>
                <a:cs typeface="Arial"/>
              </a:rPr>
              <a:t>and</a:t>
            </a:r>
            <a:r>
              <a:rPr sz="3300" spc="-13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C9D6CC"/>
                </a:solidFill>
                <a:latin typeface="Arial"/>
                <a:cs typeface="Arial"/>
              </a:rPr>
              <a:t>market </a:t>
            </a:r>
            <a:r>
              <a:rPr sz="3300" spc="-50" dirty="0">
                <a:solidFill>
                  <a:srgbClr val="C9D6CC"/>
                </a:solidFill>
                <a:latin typeface="Arial"/>
                <a:cs typeface="Arial"/>
              </a:rPr>
              <a:t>context;</a:t>
            </a:r>
            <a:r>
              <a:rPr sz="33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C9D6CC"/>
                </a:solidFill>
                <a:latin typeface="Arial"/>
                <a:cs typeface="Arial"/>
              </a:rPr>
              <a:t>the</a:t>
            </a:r>
            <a:r>
              <a:rPr sz="3300" spc="-13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C9D6CC"/>
                </a:solidFill>
                <a:latin typeface="Arial"/>
                <a:cs typeface="Arial"/>
              </a:rPr>
              <a:t>model</a:t>
            </a:r>
            <a:r>
              <a:rPr sz="3300" spc="-14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95" dirty="0">
                <a:solidFill>
                  <a:srgbClr val="C9D6CC"/>
                </a:solidFill>
                <a:latin typeface="Arial"/>
                <a:cs typeface="Arial"/>
              </a:rPr>
              <a:t>compares</a:t>
            </a:r>
            <a:r>
              <a:rPr sz="33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C9D6CC"/>
                </a:solidFill>
                <a:latin typeface="Arial"/>
                <a:cs typeface="Arial"/>
              </a:rPr>
              <a:t>conditions</a:t>
            </a:r>
            <a:r>
              <a:rPr sz="33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C9D6CC"/>
                </a:solidFill>
                <a:latin typeface="Arial"/>
                <a:cs typeface="Arial"/>
              </a:rPr>
              <a:t>and</a:t>
            </a:r>
            <a:r>
              <a:rPr sz="3300" spc="-15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14" dirty="0">
                <a:solidFill>
                  <a:srgbClr val="C9D6CC"/>
                </a:solidFill>
                <a:latin typeface="Arial"/>
                <a:cs typeface="Arial"/>
              </a:rPr>
              <a:t>explains </a:t>
            </a:r>
            <a:r>
              <a:rPr sz="3300" spc="-210" dirty="0">
                <a:solidFill>
                  <a:srgbClr val="C9D6CC"/>
                </a:solidFill>
                <a:latin typeface="Arial"/>
                <a:cs typeface="Arial"/>
              </a:rPr>
              <a:t>a</a:t>
            </a:r>
            <a:r>
              <a:rPr sz="3300" spc="-12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30" dirty="0">
                <a:solidFill>
                  <a:srgbClr val="C9D6CC"/>
                </a:solidFill>
                <a:latin typeface="Arial"/>
                <a:cs typeface="Arial"/>
              </a:rPr>
              <a:t>shortlist</a:t>
            </a:r>
            <a:r>
              <a:rPr sz="3300" spc="-114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dirty="0">
                <a:solidFill>
                  <a:srgbClr val="C9D6CC"/>
                </a:solidFill>
                <a:latin typeface="Arial"/>
                <a:cs typeface="Arial"/>
              </a:rPr>
              <a:t>of</a:t>
            </a:r>
            <a:r>
              <a:rPr sz="3300" spc="-114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75" dirty="0">
                <a:solidFill>
                  <a:srgbClr val="C9D6CC"/>
                </a:solidFill>
                <a:latin typeface="Arial"/>
                <a:cs typeface="Arial"/>
              </a:rPr>
              <a:t>suitable</a:t>
            </a:r>
            <a:r>
              <a:rPr sz="3300" spc="-12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3300" spc="-10" dirty="0">
                <a:solidFill>
                  <a:srgbClr val="C9D6CC"/>
                </a:solidFill>
                <a:latin typeface="Arial"/>
                <a:cs typeface="Arial"/>
              </a:rPr>
              <a:t>crops.</a:t>
            </a:r>
            <a:endParaRPr sz="33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BCB268-A356-6F1A-47AC-BD12411EDE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62365" y="2397218"/>
            <a:ext cx="6400800" cy="48006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C00F70F-9AEF-9D5D-3EE5-6998D1CE6FAB}"/>
              </a:ext>
            </a:extLst>
          </p:cNvPr>
          <p:cNvSpPr txBox="1"/>
          <p:nvPr/>
        </p:nvSpPr>
        <p:spPr>
          <a:xfrm>
            <a:off x="1093428" y="7650400"/>
            <a:ext cx="14679971" cy="10464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>
                <a:solidFill>
                  <a:srgbClr val="FFC000"/>
                </a:solidFill>
              </a:rPr>
              <a:t>Prototype:</a:t>
            </a:r>
            <a:br>
              <a:rPr lang="en-IN" sz="2800" dirty="0">
                <a:solidFill>
                  <a:srgbClr val="FFC000"/>
                </a:solidFill>
              </a:rPr>
            </a:br>
            <a:r>
              <a:rPr lang="en-IN" dirty="0">
                <a:solidFill>
                  <a:schemeClr val="bg1"/>
                </a:solidFill>
              </a:rPr>
              <a:t>https://studio.tripo3d.ai/3d-model/soil-moisture-sensor-device-with-solar-panel-display-control-buttons-01f5ae60-418f-4f0a-a08a-533870f864f2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69AC5B-F0C5-BC0C-0EB1-8F06334392A2}"/>
              </a:ext>
            </a:extLst>
          </p:cNvPr>
          <p:cNvSpPr txBox="1"/>
          <p:nvPr/>
        </p:nvSpPr>
        <p:spPr>
          <a:xfrm>
            <a:off x="1130300" y="6385669"/>
            <a:ext cx="7596951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FFC000"/>
                </a:solidFill>
              </a:rPr>
              <a:t>WEBSITE:</a:t>
            </a:r>
            <a:br>
              <a:rPr lang="en-US" sz="2800" b="1" dirty="0">
                <a:solidFill>
                  <a:srgbClr val="FFC000"/>
                </a:solidFill>
              </a:rPr>
            </a:br>
            <a:r>
              <a:rPr lang="en-IN" sz="3600" dirty="0">
                <a:solidFill>
                  <a:schemeClr val="bg1"/>
                </a:solidFill>
              </a:rPr>
              <a:t>https://krishiai-darrkr7i.manus.space</a:t>
            </a:r>
            <a:endParaRPr lang="en-IN" sz="2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240601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20" dirty="0">
                <a:solidFill>
                  <a:srgbClr val="B5832A"/>
                </a:solidFill>
                <a:latin typeface="Arial"/>
                <a:cs typeface="Arial"/>
              </a:rPr>
              <a:t>ARCHITECTURE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0" dirty="0"/>
              <a:t>From</a:t>
            </a:r>
            <a:r>
              <a:rPr spc="-805" dirty="0"/>
              <a:t> </a:t>
            </a:r>
            <a:r>
              <a:rPr spc="-445" dirty="0"/>
              <a:t>field</a:t>
            </a:r>
            <a:r>
              <a:rPr spc="-780" dirty="0"/>
              <a:t> </a:t>
            </a:r>
            <a:r>
              <a:rPr spc="-655" dirty="0"/>
              <a:t>data</a:t>
            </a:r>
            <a:r>
              <a:rPr spc="-825" dirty="0"/>
              <a:t> </a:t>
            </a:r>
            <a:r>
              <a:rPr spc="-570" dirty="0"/>
              <a:t>to</a:t>
            </a:r>
            <a:r>
              <a:rPr spc="-790" dirty="0"/>
              <a:t> </a:t>
            </a:r>
            <a:r>
              <a:rPr spc="-545" dirty="0"/>
              <a:t>planting</a:t>
            </a:r>
            <a:r>
              <a:rPr spc="-765" dirty="0"/>
              <a:t> </a:t>
            </a:r>
            <a:r>
              <a:rPr spc="-550" dirty="0"/>
              <a:t>plan</a:t>
            </a:r>
          </a:p>
        </p:txBody>
      </p:sp>
      <p:sp>
        <p:nvSpPr>
          <p:cNvPr id="4" name="object 4"/>
          <p:cNvSpPr/>
          <p:nvPr/>
        </p:nvSpPr>
        <p:spPr>
          <a:xfrm>
            <a:off x="1143000" y="361950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3207886" y="4381499"/>
                </a:moveTo>
                <a:lnTo>
                  <a:pt x="221113" y="4381499"/>
                </a:lnTo>
                <a:lnTo>
                  <a:pt x="213644" y="4381132"/>
                </a:lnTo>
                <a:lnTo>
                  <a:pt x="169405" y="4373829"/>
                </a:lnTo>
                <a:lnTo>
                  <a:pt x="127441" y="4358035"/>
                </a:lnTo>
                <a:lnTo>
                  <a:pt x="89365" y="4334359"/>
                </a:lnTo>
                <a:lnTo>
                  <a:pt x="56639" y="4303709"/>
                </a:lnTo>
                <a:lnTo>
                  <a:pt x="30522" y="4267263"/>
                </a:lnTo>
                <a:lnTo>
                  <a:pt x="12016" y="4226422"/>
                </a:lnTo>
                <a:lnTo>
                  <a:pt x="1834" y="4182757"/>
                </a:lnTo>
                <a:lnTo>
                  <a:pt x="0" y="4160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207886" y="0"/>
                </a:lnTo>
                <a:lnTo>
                  <a:pt x="3252340" y="5853"/>
                </a:lnTo>
                <a:lnTo>
                  <a:pt x="3294797" y="20266"/>
                </a:lnTo>
                <a:lnTo>
                  <a:pt x="3333628" y="42685"/>
                </a:lnTo>
                <a:lnTo>
                  <a:pt x="3367338" y="72249"/>
                </a:lnTo>
                <a:lnTo>
                  <a:pt x="3394633" y="107821"/>
                </a:lnTo>
                <a:lnTo>
                  <a:pt x="3414463" y="148035"/>
                </a:lnTo>
                <a:lnTo>
                  <a:pt x="3426067" y="191345"/>
                </a:lnTo>
                <a:lnTo>
                  <a:pt x="3428999" y="221113"/>
                </a:lnTo>
                <a:lnTo>
                  <a:pt x="3428999" y="4160386"/>
                </a:lnTo>
                <a:lnTo>
                  <a:pt x="3423146" y="4204840"/>
                </a:lnTo>
                <a:lnTo>
                  <a:pt x="3408733" y="4247297"/>
                </a:lnTo>
                <a:lnTo>
                  <a:pt x="3386314" y="4286127"/>
                </a:lnTo>
                <a:lnTo>
                  <a:pt x="3356750" y="4319838"/>
                </a:lnTo>
                <a:lnTo>
                  <a:pt x="3321177" y="4347132"/>
                </a:lnTo>
                <a:lnTo>
                  <a:pt x="3280963" y="4366963"/>
                </a:lnTo>
                <a:lnTo>
                  <a:pt x="3237654" y="4378567"/>
                </a:lnTo>
                <a:lnTo>
                  <a:pt x="3215355" y="4381132"/>
                </a:lnTo>
                <a:lnTo>
                  <a:pt x="3207886" y="4381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473199" y="3992407"/>
            <a:ext cx="2594610" cy="23685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62965">
              <a:lnSpc>
                <a:spcPct val="109400"/>
              </a:lnSpc>
              <a:spcBef>
                <a:spcPts val="95"/>
              </a:spcBef>
            </a:pPr>
            <a:r>
              <a:rPr sz="2800" b="1" spc="-409" dirty="0">
                <a:solidFill>
                  <a:srgbClr val="163A26"/>
                </a:solidFill>
                <a:latin typeface="Arial"/>
                <a:cs typeface="Arial"/>
              </a:rPr>
              <a:t>1.</a:t>
            </a:r>
            <a:r>
              <a:rPr sz="2800" b="1" spc="-14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163A26"/>
                </a:solidFill>
                <a:latin typeface="Arial"/>
                <a:cs typeface="Arial"/>
              </a:rPr>
              <a:t>Input </a:t>
            </a:r>
            <a:r>
              <a:rPr sz="2800" spc="-130" dirty="0">
                <a:solidFill>
                  <a:srgbClr val="163A26"/>
                </a:solidFill>
                <a:latin typeface="Arial"/>
                <a:cs typeface="Arial"/>
              </a:rPr>
              <a:t>Soil</a:t>
            </a:r>
            <a:r>
              <a:rPr sz="2800" spc="-7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163A26"/>
                </a:solidFill>
                <a:latin typeface="Arial"/>
                <a:cs typeface="Arial"/>
              </a:rPr>
              <a:t>profile</a:t>
            </a:r>
            <a:r>
              <a:rPr sz="2800" spc="-12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570" dirty="0">
                <a:solidFill>
                  <a:srgbClr val="163A26"/>
                </a:solidFill>
                <a:latin typeface="Arial"/>
                <a:cs typeface="Arial"/>
              </a:rPr>
              <a:t>·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9400"/>
              </a:lnSpc>
              <a:spcBef>
                <a:spcPts val="75"/>
              </a:spcBef>
            </a:pPr>
            <a:r>
              <a:rPr sz="2800" spc="-60" dirty="0">
                <a:solidFill>
                  <a:srgbClr val="163A26"/>
                </a:solidFill>
                <a:latin typeface="Arial"/>
                <a:cs typeface="Arial"/>
              </a:rPr>
              <a:t>weather</a:t>
            </a:r>
            <a:r>
              <a:rPr sz="2800" spc="-10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outlook</a:t>
            </a:r>
            <a:r>
              <a:rPr sz="2800" spc="-14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575" dirty="0">
                <a:solidFill>
                  <a:srgbClr val="163A26"/>
                </a:solidFill>
                <a:latin typeface="Arial"/>
                <a:cs typeface="Arial"/>
              </a:rPr>
              <a:t>·</a:t>
            </a:r>
            <a:r>
              <a:rPr sz="2800" spc="-120" dirty="0">
                <a:solidFill>
                  <a:srgbClr val="163A26"/>
                </a:solidFill>
                <a:latin typeface="Arial"/>
                <a:cs typeface="Arial"/>
              </a:rPr>
              <a:t> season</a:t>
            </a:r>
            <a:r>
              <a:rPr sz="2800" spc="-6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434" dirty="0">
                <a:solidFill>
                  <a:srgbClr val="163A26"/>
                </a:solidFill>
                <a:latin typeface="Arial"/>
                <a:cs typeface="Arial"/>
              </a:rPr>
              <a:t>·</a:t>
            </a:r>
            <a:r>
              <a:rPr sz="2800" spc="-7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market context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333999" y="361950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3207886" y="4381499"/>
                </a:moveTo>
                <a:lnTo>
                  <a:pt x="221113" y="4381499"/>
                </a:lnTo>
                <a:lnTo>
                  <a:pt x="213644" y="4381132"/>
                </a:lnTo>
                <a:lnTo>
                  <a:pt x="169405" y="4373829"/>
                </a:lnTo>
                <a:lnTo>
                  <a:pt x="127441" y="4358035"/>
                </a:lnTo>
                <a:lnTo>
                  <a:pt x="89365" y="4334359"/>
                </a:lnTo>
                <a:lnTo>
                  <a:pt x="56639" y="4303709"/>
                </a:lnTo>
                <a:lnTo>
                  <a:pt x="30522" y="4267263"/>
                </a:lnTo>
                <a:lnTo>
                  <a:pt x="12016" y="4226422"/>
                </a:lnTo>
                <a:lnTo>
                  <a:pt x="1834" y="4182757"/>
                </a:lnTo>
                <a:lnTo>
                  <a:pt x="0" y="4160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207886" y="0"/>
                </a:lnTo>
                <a:lnTo>
                  <a:pt x="3252340" y="5853"/>
                </a:lnTo>
                <a:lnTo>
                  <a:pt x="3294797" y="20266"/>
                </a:lnTo>
                <a:lnTo>
                  <a:pt x="3333628" y="42685"/>
                </a:lnTo>
                <a:lnTo>
                  <a:pt x="3367338" y="72249"/>
                </a:lnTo>
                <a:lnTo>
                  <a:pt x="3394633" y="107821"/>
                </a:lnTo>
                <a:lnTo>
                  <a:pt x="3414463" y="148035"/>
                </a:lnTo>
                <a:lnTo>
                  <a:pt x="3426067" y="191345"/>
                </a:lnTo>
                <a:lnTo>
                  <a:pt x="3428999" y="221113"/>
                </a:lnTo>
                <a:lnTo>
                  <a:pt x="3428999" y="4160386"/>
                </a:lnTo>
                <a:lnTo>
                  <a:pt x="3423146" y="4204840"/>
                </a:lnTo>
                <a:lnTo>
                  <a:pt x="3408733" y="4247297"/>
                </a:lnTo>
                <a:lnTo>
                  <a:pt x="3386314" y="4286127"/>
                </a:lnTo>
                <a:lnTo>
                  <a:pt x="3356750" y="4319838"/>
                </a:lnTo>
                <a:lnTo>
                  <a:pt x="3321177" y="4347132"/>
                </a:lnTo>
                <a:lnTo>
                  <a:pt x="3280963" y="4366963"/>
                </a:lnTo>
                <a:lnTo>
                  <a:pt x="3237654" y="4378567"/>
                </a:lnTo>
                <a:lnTo>
                  <a:pt x="3215355" y="4381132"/>
                </a:lnTo>
                <a:lnTo>
                  <a:pt x="3207886" y="43814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664199" y="3992407"/>
            <a:ext cx="2438400" cy="2368550"/>
          </a:xfrm>
          <a:prstGeom prst="rect">
            <a:avLst/>
          </a:prstGeom>
        </p:spPr>
        <p:txBody>
          <a:bodyPr vert="horz" wrap="square" lIns="0" tIns="10160" rIns="0" bIns="0" rtlCol="0">
            <a:spAutoFit/>
          </a:bodyPr>
          <a:lstStyle/>
          <a:p>
            <a:pPr marL="12700" marR="5080">
              <a:lnSpc>
                <a:spcPct val="109900"/>
              </a:lnSpc>
              <a:spcBef>
                <a:spcPts val="80"/>
              </a:spcBef>
            </a:pPr>
            <a:r>
              <a:rPr sz="2800" b="1" spc="-110" dirty="0">
                <a:solidFill>
                  <a:srgbClr val="F4EFE3"/>
                </a:solidFill>
                <a:latin typeface="Arial"/>
                <a:cs typeface="Arial"/>
              </a:rPr>
              <a:t>2.</a:t>
            </a:r>
            <a:r>
              <a:rPr sz="2800" b="1" spc="-14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b="1" spc="-170" dirty="0">
                <a:solidFill>
                  <a:srgbClr val="F4EFE3"/>
                </a:solidFill>
                <a:latin typeface="Arial"/>
                <a:cs typeface="Arial"/>
              </a:rPr>
              <a:t>AI</a:t>
            </a:r>
            <a:r>
              <a:rPr sz="2800" b="1" spc="-18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F4EFE3"/>
                </a:solidFill>
                <a:latin typeface="Arial"/>
                <a:cs typeface="Arial"/>
              </a:rPr>
              <a:t>analysis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Compare conditions, </a:t>
            </a:r>
            <a:r>
              <a:rPr sz="2800" spc="-50" dirty="0">
                <a:solidFill>
                  <a:srgbClr val="F4EFE3"/>
                </a:solidFill>
                <a:latin typeface="Arial"/>
                <a:cs typeface="Arial"/>
              </a:rPr>
              <a:t>constraints,</a:t>
            </a:r>
            <a:r>
              <a:rPr sz="2800" spc="-9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F4EFE3"/>
                </a:solidFill>
                <a:latin typeface="Arial"/>
                <a:cs typeface="Arial"/>
              </a:rPr>
              <a:t>and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crop</a:t>
            </a:r>
            <a:r>
              <a:rPr sz="2800" spc="-17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suitability.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524999" y="361950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3207886" y="4381499"/>
                </a:moveTo>
                <a:lnTo>
                  <a:pt x="221113" y="4381499"/>
                </a:lnTo>
                <a:lnTo>
                  <a:pt x="213644" y="4381132"/>
                </a:lnTo>
                <a:lnTo>
                  <a:pt x="169405" y="4373829"/>
                </a:lnTo>
                <a:lnTo>
                  <a:pt x="127441" y="4358035"/>
                </a:lnTo>
                <a:lnTo>
                  <a:pt x="89365" y="4334359"/>
                </a:lnTo>
                <a:lnTo>
                  <a:pt x="56639" y="4303709"/>
                </a:lnTo>
                <a:lnTo>
                  <a:pt x="30522" y="4267263"/>
                </a:lnTo>
                <a:lnTo>
                  <a:pt x="12016" y="4226422"/>
                </a:lnTo>
                <a:lnTo>
                  <a:pt x="1834" y="4182757"/>
                </a:lnTo>
                <a:lnTo>
                  <a:pt x="0" y="4160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207886" y="0"/>
                </a:lnTo>
                <a:lnTo>
                  <a:pt x="3252340" y="5853"/>
                </a:lnTo>
                <a:lnTo>
                  <a:pt x="3294797" y="20266"/>
                </a:lnTo>
                <a:lnTo>
                  <a:pt x="3333628" y="42685"/>
                </a:lnTo>
                <a:lnTo>
                  <a:pt x="3367338" y="72249"/>
                </a:lnTo>
                <a:lnTo>
                  <a:pt x="3394633" y="107821"/>
                </a:lnTo>
                <a:lnTo>
                  <a:pt x="3414463" y="148035"/>
                </a:lnTo>
                <a:lnTo>
                  <a:pt x="3426067" y="191345"/>
                </a:lnTo>
                <a:lnTo>
                  <a:pt x="3428999" y="221113"/>
                </a:lnTo>
                <a:lnTo>
                  <a:pt x="3428999" y="4160386"/>
                </a:lnTo>
                <a:lnTo>
                  <a:pt x="3423146" y="4204840"/>
                </a:lnTo>
                <a:lnTo>
                  <a:pt x="3408733" y="4247297"/>
                </a:lnTo>
                <a:lnTo>
                  <a:pt x="3386314" y="4286127"/>
                </a:lnTo>
                <a:lnTo>
                  <a:pt x="3356750" y="4319838"/>
                </a:lnTo>
                <a:lnTo>
                  <a:pt x="3321177" y="4347132"/>
                </a:lnTo>
                <a:lnTo>
                  <a:pt x="3280963" y="4366963"/>
                </a:lnTo>
                <a:lnTo>
                  <a:pt x="3237654" y="4378567"/>
                </a:lnTo>
                <a:lnTo>
                  <a:pt x="3215355" y="4381132"/>
                </a:lnTo>
                <a:lnTo>
                  <a:pt x="3207886" y="4381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855199" y="4035817"/>
            <a:ext cx="29591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b="1" spc="-35" dirty="0">
                <a:solidFill>
                  <a:srgbClr val="163A26"/>
                </a:solidFill>
                <a:latin typeface="Arial"/>
                <a:cs typeface="Arial"/>
              </a:rPr>
              <a:t>3.</a:t>
            </a:r>
            <a:endParaRPr sz="27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855199" y="4493016"/>
            <a:ext cx="275463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b="1" spc="-85" dirty="0">
                <a:solidFill>
                  <a:srgbClr val="163A26"/>
                </a:solidFill>
                <a:latin typeface="Arial"/>
                <a:cs typeface="Arial"/>
              </a:rPr>
              <a:t>Recommendation</a:t>
            </a:r>
            <a:endParaRPr sz="27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855199" y="4905088"/>
            <a:ext cx="2367280" cy="9398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11100"/>
              </a:lnSpc>
              <a:spcBef>
                <a:spcPts val="90"/>
              </a:spcBef>
            </a:pPr>
            <a:r>
              <a:rPr sz="2700" spc="-175" dirty="0">
                <a:solidFill>
                  <a:srgbClr val="163A26"/>
                </a:solidFill>
                <a:latin typeface="Arial"/>
                <a:cs typeface="Arial"/>
              </a:rPr>
              <a:t>Review</a:t>
            </a:r>
            <a:r>
              <a:rPr sz="2700" spc="-8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700" spc="-150" dirty="0">
                <a:solidFill>
                  <a:srgbClr val="163A26"/>
                </a:solidFill>
                <a:latin typeface="Arial"/>
                <a:cs typeface="Arial"/>
              </a:rPr>
              <a:t>a</a:t>
            </a:r>
            <a:r>
              <a:rPr sz="2700" spc="-5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700" spc="-70" dirty="0">
                <a:solidFill>
                  <a:srgbClr val="163A26"/>
                </a:solidFill>
                <a:latin typeface="Arial"/>
                <a:cs typeface="Arial"/>
              </a:rPr>
              <a:t>ranked </a:t>
            </a:r>
            <a:r>
              <a:rPr sz="2700" spc="-10" dirty="0">
                <a:solidFill>
                  <a:srgbClr val="163A26"/>
                </a:solidFill>
                <a:latin typeface="Arial"/>
                <a:cs typeface="Arial"/>
              </a:rPr>
              <a:t>shortlist.</a:t>
            </a:r>
            <a:endParaRPr sz="27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716000" y="3619500"/>
            <a:ext cx="3429000" cy="4381500"/>
          </a:xfrm>
          <a:custGeom>
            <a:avLst/>
            <a:gdLst/>
            <a:ahLst/>
            <a:cxnLst/>
            <a:rect l="l" t="t" r="r" b="b"/>
            <a:pathLst>
              <a:path w="3429000" h="4381500">
                <a:moveTo>
                  <a:pt x="3207886" y="4381499"/>
                </a:moveTo>
                <a:lnTo>
                  <a:pt x="221113" y="4381499"/>
                </a:lnTo>
                <a:lnTo>
                  <a:pt x="213644" y="4381132"/>
                </a:lnTo>
                <a:lnTo>
                  <a:pt x="169405" y="4373829"/>
                </a:lnTo>
                <a:lnTo>
                  <a:pt x="127441" y="4358035"/>
                </a:lnTo>
                <a:lnTo>
                  <a:pt x="89365" y="4334359"/>
                </a:lnTo>
                <a:lnTo>
                  <a:pt x="56639" y="4303709"/>
                </a:lnTo>
                <a:lnTo>
                  <a:pt x="30522" y="4267263"/>
                </a:lnTo>
                <a:lnTo>
                  <a:pt x="12016" y="4226422"/>
                </a:lnTo>
                <a:lnTo>
                  <a:pt x="1834" y="4182757"/>
                </a:lnTo>
                <a:lnTo>
                  <a:pt x="0" y="41603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3207886" y="0"/>
                </a:lnTo>
                <a:lnTo>
                  <a:pt x="3252340" y="5853"/>
                </a:lnTo>
                <a:lnTo>
                  <a:pt x="3294797" y="20266"/>
                </a:lnTo>
                <a:lnTo>
                  <a:pt x="3333628" y="42685"/>
                </a:lnTo>
                <a:lnTo>
                  <a:pt x="3367338" y="72249"/>
                </a:lnTo>
                <a:lnTo>
                  <a:pt x="3394633" y="107821"/>
                </a:lnTo>
                <a:lnTo>
                  <a:pt x="3414463" y="148035"/>
                </a:lnTo>
                <a:lnTo>
                  <a:pt x="3426067" y="191345"/>
                </a:lnTo>
                <a:lnTo>
                  <a:pt x="3428999" y="221113"/>
                </a:lnTo>
                <a:lnTo>
                  <a:pt x="3428999" y="4160386"/>
                </a:lnTo>
                <a:lnTo>
                  <a:pt x="3423146" y="4204840"/>
                </a:lnTo>
                <a:lnTo>
                  <a:pt x="3408733" y="4247297"/>
                </a:lnTo>
                <a:lnTo>
                  <a:pt x="3386314" y="4286127"/>
                </a:lnTo>
                <a:lnTo>
                  <a:pt x="3356750" y="4319838"/>
                </a:lnTo>
                <a:lnTo>
                  <a:pt x="3321177" y="4347132"/>
                </a:lnTo>
                <a:lnTo>
                  <a:pt x="3280963" y="4366963"/>
                </a:lnTo>
                <a:lnTo>
                  <a:pt x="3237654" y="4378567"/>
                </a:lnTo>
                <a:lnTo>
                  <a:pt x="3215355" y="4381132"/>
                </a:lnTo>
                <a:lnTo>
                  <a:pt x="3207886" y="438149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4046200" y="3992407"/>
            <a:ext cx="2688590" cy="1435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20" dirty="0">
                <a:solidFill>
                  <a:srgbClr val="163A26"/>
                </a:solidFill>
                <a:latin typeface="Arial"/>
                <a:cs typeface="Arial"/>
              </a:rPr>
              <a:t>4.</a:t>
            </a:r>
            <a:r>
              <a:rPr sz="2800" b="1" spc="-17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Action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3750"/>
              </a:lnSpc>
              <a:spcBef>
                <a:spcPts val="30"/>
              </a:spcBef>
            </a:pPr>
            <a:r>
              <a:rPr sz="2800" spc="-160" dirty="0">
                <a:solidFill>
                  <a:srgbClr val="163A26"/>
                </a:solidFill>
                <a:latin typeface="Arial"/>
                <a:cs typeface="Arial"/>
              </a:rPr>
              <a:t>Plan</a:t>
            </a:r>
            <a:r>
              <a:rPr sz="2800" spc="-7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63A26"/>
                </a:solidFill>
                <a:latin typeface="Arial"/>
                <a:cs typeface="Arial"/>
              </a:rPr>
              <a:t>planting</a:t>
            </a:r>
            <a:r>
              <a:rPr sz="2800" spc="-13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63A26"/>
                </a:solidFill>
                <a:latin typeface="Arial"/>
                <a:cs typeface="Arial"/>
              </a:rPr>
              <a:t>with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local</a:t>
            </a:r>
            <a:r>
              <a:rPr sz="2800" spc="-15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judgment.</a:t>
            </a:r>
            <a:endParaRPr sz="2800">
              <a:latin typeface="Arial"/>
              <a:cs typeface="Arial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4619625" y="5695949"/>
            <a:ext cx="666115" cy="228600"/>
            <a:chOff x="4619625" y="5695949"/>
            <a:chExt cx="666115" cy="228600"/>
          </a:xfrm>
        </p:grpSpPr>
        <p:sp>
          <p:nvSpPr>
            <p:cNvPr id="15" name="object 15"/>
            <p:cNvSpPr/>
            <p:nvPr/>
          </p:nvSpPr>
          <p:spPr>
            <a:xfrm>
              <a:off x="4619625" y="5791199"/>
              <a:ext cx="628650" cy="38100"/>
            </a:xfrm>
            <a:custGeom>
              <a:avLst/>
              <a:gdLst/>
              <a:ahLst/>
              <a:cxnLst/>
              <a:rect l="l" t="t" r="r" b="b"/>
              <a:pathLst>
                <a:path w="628650" h="38100">
                  <a:moveTo>
                    <a:pt x="6286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628649" y="0"/>
                  </a:lnTo>
                  <a:lnTo>
                    <a:pt x="628649" y="38099"/>
                  </a:lnTo>
                  <a:close/>
                </a:path>
              </a:pathLst>
            </a:custGeom>
            <a:solidFill>
              <a:srgbClr val="B5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5094731" y="5695949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228599"/>
                  </a:moveTo>
                  <a:lnTo>
                    <a:pt x="0" y="0"/>
                  </a:lnTo>
                  <a:lnTo>
                    <a:pt x="1904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B5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7" name="object 17"/>
          <p:cNvGrpSpPr/>
          <p:nvPr/>
        </p:nvGrpSpPr>
        <p:grpSpPr>
          <a:xfrm>
            <a:off x="8810625" y="5695949"/>
            <a:ext cx="666115" cy="228600"/>
            <a:chOff x="8810625" y="5695949"/>
            <a:chExt cx="666115" cy="228600"/>
          </a:xfrm>
        </p:grpSpPr>
        <p:sp>
          <p:nvSpPr>
            <p:cNvPr id="18" name="object 18"/>
            <p:cNvSpPr/>
            <p:nvPr/>
          </p:nvSpPr>
          <p:spPr>
            <a:xfrm>
              <a:off x="8810625" y="5791199"/>
              <a:ext cx="628650" cy="38100"/>
            </a:xfrm>
            <a:custGeom>
              <a:avLst/>
              <a:gdLst/>
              <a:ahLst/>
              <a:cxnLst/>
              <a:rect l="l" t="t" r="r" b="b"/>
              <a:pathLst>
                <a:path w="628650" h="38100">
                  <a:moveTo>
                    <a:pt x="6286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628649" y="0"/>
                  </a:lnTo>
                  <a:lnTo>
                    <a:pt x="628649" y="38099"/>
                  </a:lnTo>
                  <a:close/>
                </a:path>
              </a:pathLst>
            </a:custGeom>
            <a:solidFill>
              <a:srgbClr val="B5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9285731" y="5695949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228599"/>
                  </a:moveTo>
                  <a:lnTo>
                    <a:pt x="0" y="0"/>
                  </a:lnTo>
                  <a:lnTo>
                    <a:pt x="1904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B5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0" name="object 20"/>
          <p:cNvGrpSpPr/>
          <p:nvPr/>
        </p:nvGrpSpPr>
        <p:grpSpPr>
          <a:xfrm>
            <a:off x="13001625" y="5695949"/>
            <a:ext cx="666115" cy="228600"/>
            <a:chOff x="13001625" y="5695949"/>
            <a:chExt cx="666115" cy="228600"/>
          </a:xfrm>
        </p:grpSpPr>
        <p:sp>
          <p:nvSpPr>
            <p:cNvPr id="21" name="object 21"/>
            <p:cNvSpPr/>
            <p:nvPr/>
          </p:nvSpPr>
          <p:spPr>
            <a:xfrm>
              <a:off x="13001625" y="5791199"/>
              <a:ext cx="628650" cy="38100"/>
            </a:xfrm>
            <a:custGeom>
              <a:avLst/>
              <a:gdLst/>
              <a:ahLst/>
              <a:cxnLst/>
              <a:rect l="l" t="t" r="r" b="b"/>
              <a:pathLst>
                <a:path w="628650" h="38100">
                  <a:moveTo>
                    <a:pt x="628649" y="38099"/>
                  </a:moveTo>
                  <a:lnTo>
                    <a:pt x="0" y="38099"/>
                  </a:lnTo>
                  <a:lnTo>
                    <a:pt x="0" y="0"/>
                  </a:lnTo>
                  <a:lnTo>
                    <a:pt x="628649" y="0"/>
                  </a:lnTo>
                  <a:lnTo>
                    <a:pt x="628649" y="38099"/>
                  </a:lnTo>
                  <a:close/>
                </a:path>
              </a:pathLst>
            </a:custGeom>
            <a:solidFill>
              <a:srgbClr val="B5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13476731" y="5695949"/>
              <a:ext cx="190500" cy="228600"/>
            </a:xfrm>
            <a:custGeom>
              <a:avLst/>
              <a:gdLst/>
              <a:ahLst/>
              <a:cxnLst/>
              <a:rect l="l" t="t" r="r" b="b"/>
              <a:pathLst>
                <a:path w="190500" h="228600">
                  <a:moveTo>
                    <a:pt x="0" y="228599"/>
                  </a:moveTo>
                  <a:lnTo>
                    <a:pt x="0" y="0"/>
                  </a:lnTo>
                  <a:lnTo>
                    <a:pt x="190499" y="114299"/>
                  </a:lnTo>
                  <a:lnTo>
                    <a:pt x="0" y="228599"/>
                  </a:lnTo>
                  <a:close/>
                </a:path>
              </a:pathLst>
            </a:custGeom>
            <a:solidFill>
              <a:srgbClr val="B5832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929665"/>
            <a:ext cx="273050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35" dirty="0">
                <a:solidFill>
                  <a:srgbClr val="B5832A"/>
                </a:solidFill>
                <a:latin typeface="Arial"/>
                <a:cs typeface="Arial"/>
              </a:rPr>
              <a:t>BUSINESS</a:t>
            </a:r>
            <a:r>
              <a:rPr sz="2400" b="1" spc="-60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B5832A"/>
                </a:solidFill>
                <a:latin typeface="Arial"/>
                <a:cs typeface="Arial"/>
              </a:rPr>
              <a:t>MODEL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0300" y="1274704"/>
            <a:ext cx="6169025" cy="9613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5" dirty="0"/>
              <a:t>Lean</a:t>
            </a:r>
            <a:r>
              <a:rPr spc="-810" dirty="0"/>
              <a:t> </a:t>
            </a:r>
            <a:r>
              <a:rPr spc="-710" dirty="0"/>
              <a:t>Canvas</a:t>
            </a:r>
            <a:r>
              <a:rPr spc="-375" dirty="0"/>
              <a:t> </a:t>
            </a:r>
            <a:r>
              <a:rPr spc="-585" dirty="0"/>
              <a:t>Model</a:t>
            </a:r>
          </a:p>
        </p:txBody>
      </p:sp>
      <p:sp>
        <p:nvSpPr>
          <p:cNvPr id="4" name="object 4"/>
          <p:cNvSpPr/>
          <p:nvPr/>
        </p:nvSpPr>
        <p:spPr>
          <a:xfrm>
            <a:off x="1143000" y="2762249"/>
            <a:ext cx="3857625" cy="2857500"/>
          </a:xfrm>
          <a:custGeom>
            <a:avLst/>
            <a:gdLst/>
            <a:ahLst/>
            <a:cxnLst/>
            <a:rect l="l" t="t" r="r" b="b"/>
            <a:pathLst>
              <a:path w="3857625" h="2857500">
                <a:moveTo>
                  <a:pt x="3667124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3667124" y="0"/>
                </a:lnTo>
                <a:lnTo>
                  <a:pt x="3713423" y="5710"/>
                </a:lnTo>
                <a:lnTo>
                  <a:pt x="3756926" y="22492"/>
                </a:lnTo>
                <a:lnTo>
                  <a:pt x="3795048" y="49340"/>
                </a:lnTo>
                <a:lnTo>
                  <a:pt x="3825519" y="84663"/>
                </a:lnTo>
                <a:lnTo>
                  <a:pt x="3846493" y="126332"/>
                </a:lnTo>
                <a:lnTo>
                  <a:pt x="3856709" y="171827"/>
                </a:lnTo>
                <a:lnTo>
                  <a:pt x="3857624" y="190499"/>
                </a:lnTo>
                <a:lnTo>
                  <a:pt x="3857624" y="2666999"/>
                </a:lnTo>
                <a:lnTo>
                  <a:pt x="3851913" y="2713298"/>
                </a:lnTo>
                <a:lnTo>
                  <a:pt x="3835132" y="2756801"/>
                </a:lnTo>
                <a:lnTo>
                  <a:pt x="3808283" y="2794923"/>
                </a:lnTo>
                <a:lnTo>
                  <a:pt x="3772960" y="2825394"/>
                </a:lnTo>
                <a:lnTo>
                  <a:pt x="3731291" y="2846368"/>
                </a:lnTo>
                <a:lnTo>
                  <a:pt x="3685796" y="2856584"/>
                </a:lnTo>
                <a:lnTo>
                  <a:pt x="3667124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16062" y="2982757"/>
            <a:ext cx="2966085" cy="1901825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12700" marR="713740">
              <a:lnSpc>
                <a:spcPct val="110500"/>
              </a:lnSpc>
              <a:spcBef>
                <a:spcPts val="60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Problem </a:t>
            </a:r>
            <a:r>
              <a:rPr sz="2800" spc="-60" dirty="0">
                <a:solidFill>
                  <a:srgbClr val="163A26"/>
                </a:solidFill>
                <a:latin typeface="Arial"/>
                <a:cs typeface="Arial"/>
              </a:rPr>
              <a:t>Uncertain</a:t>
            </a:r>
            <a:r>
              <a:rPr sz="2800" spc="-12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63A26"/>
                </a:solidFill>
                <a:latin typeface="Arial"/>
                <a:cs typeface="Arial"/>
              </a:rPr>
              <a:t>crop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choice</a:t>
            </a:r>
            <a:r>
              <a:rPr sz="2800" spc="-13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25" dirty="0">
                <a:solidFill>
                  <a:srgbClr val="163A26"/>
                </a:solidFill>
                <a:latin typeface="Arial"/>
                <a:cs typeface="Arial"/>
              </a:rPr>
              <a:t>and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fragmented</a:t>
            </a:r>
            <a:r>
              <a:rPr sz="2800" spc="-10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163A26"/>
                </a:solidFill>
                <a:latin typeface="Arial"/>
                <a:cs typeface="Arial"/>
              </a:rPr>
              <a:t>signals.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5191124" y="2762249"/>
            <a:ext cx="3857625" cy="2857500"/>
          </a:xfrm>
          <a:custGeom>
            <a:avLst/>
            <a:gdLst/>
            <a:ahLst/>
            <a:cxnLst/>
            <a:rect l="l" t="t" r="r" b="b"/>
            <a:pathLst>
              <a:path w="3857625" h="2857500">
                <a:moveTo>
                  <a:pt x="3667124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3667124" y="0"/>
                </a:lnTo>
                <a:lnTo>
                  <a:pt x="3713423" y="5710"/>
                </a:lnTo>
                <a:lnTo>
                  <a:pt x="3756926" y="22492"/>
                </a:lnTo>
                <a:lnTo>
                  <a:pt x="3795048" y="49340"/>
                </a:lnTo>
                <a:lnTo>
                  <a:pt x="3825519" y="84663"/>
                </a:lnTo>
                <a:lnTo>
                  <a:pt x="3846493" y="126332"/>
                </a:lnTo>
                <a:lnTo>
                  <a:pt x="3856709" y="171827"/>
                </a:lnTo>
                <a:lnTo>
                  <a:pt x="3857624" y="190499"/>
                </a:lnTo>
                <a:lnTo>
                  <a:pt x="3857624" y="2666999"/>
                </a:lnTo>
                <a:lnTo>
                  <a:pt x="3851913" y="2713298"/>
                </a:lnTo>
                <a:lnTo>
                  <a:pt x="3835132" y="2756801"/>
                </a:lnTo>
                <a:lnTo>
                  <a:pt x="3808283" y="2794923"/>
                </a:lnTo>
                <a:lnTo>
                  <a:pt x="3772960" y="2825394"/>
                </a:lnTo>
                <a:lnTo>
                  <a:pt x="3731291" y="2846368"/>
                </a:lnTo>
                <a:lnTo>
                  <a:pt x="3685796" y="2856584"/>
                </a:lnTo>
                <a:lnTo>
                  <a:pt x="3667124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5564187" y="2982757"/>
            <a:ext cx="2760345" cy="19018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75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Solution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Explainable </a:t>
            </a:r>
            <a:r>
              <a:rPr sz="2800" spc="-60" dirty="0">
                <a:solidFill>
                  <a:srgbClr val="163A26"/>
                </a:solidFill>
                <a:latin typeface="Arial"/>
                <a:cs typeface="Arial"/>
              </a:rPr>
              <a:t>recommendations </a:t>
            </a:r>
            <a:r>
              <a:rPr sz="2800" dirty="0">
                <a:solidFill>
                  <a:srgbClr val="163A26"/>
                </a:solidFill>
                <a:latin typeface="Arial"/>
                <a:cs typeface="Arial"/>
              </a:rPr>
              <a:t>from</a:t>
            </a:r>
            <a:r>
              <a:rPr sz="2800" spc="-19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local</a:t>
            </a:r>
            <a:r>
              <a:rPr sz="2800" spc="-14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inputs.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9239250" y="2762249"/>
            <a:ext cx="3857625" cy="2857500"/>
          </a:xfrm>
          <a:custGeom>
            <a:avLst/>
            <a:gdLst/>
            <a:ahLst/>
            <a:cxnLst/>
            <a:rect l="l" t="t" r="r" b="b"/>
            <a:pathLst>
              <a:path w="3857625" h="2857500">
                <a:moveTo>
                  <a:pt x="3667124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3667124" y="0"/>
                </a:lnTo>
                <a:lnTo>
                  <a:pt x="3713423" y="5710"/>
                </a:lnTo>
                <a:lnTo>
                  <a:pt x="3756926" y="22492"/>
                </a:lnTo>
                <a:lnTo>
                  <a:pt x="3795048" y="49340"/>
                </a:lnTo>
                <a:lnTo>
                  <a:pt x="3825519" y="84663"/>
                </a:lnTo>
                <a:lnTo>
                  <a:pt x="3846493" y="126332"/>
                </a:lnTo>
                <a:lnTo>
                  <a:pt x="3856709" y="171827"/>
                </a:lnTo>
                <a:lnTo>
                  <a:pt x="3857624" y="190499"/>
                </a:lnTo>
                <a:lnTo>
                  <a:pt x="3857624" y="2666999"/>
                </a:lnTo>
                <a:lnTo>
                  <a:pt x="3851913" y="2713298"/>
                </a:lnTo>
                <a:lnTo>
                  <a:pt x="3835132" y="2756801"/>
                </a:lnTo>
                <a:lnTo>
                  <a:pt x="3808283" y="2794923"/>
                </a:lnTo>
                <a:lnTo>
                  <a:pt x="3772960" y="2825394"/>
                </a:lnTo>
                <a:lnTo>
                  <a:pt x="3731291" y="2846368"/>
                </a:lnTo>
                <a:lnTo>
                  <a:pt x="3685796" y="2856584"/>
                </a:lnTo>
                <a:lnTo>
                  <a:pt x="3667124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612311" y="2982757"/>
            <a:ext cx="2758440" cy="19018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Users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800" spc="-145" dirty="0">
                <a:solidFill>
                  <a:srgbClr val="163A26"/>
                </a:solidFill>
                <a:latin typeface="Arial"/>
                <a:cs typeface="Arial"/>
              </a:rPr>
              <a:t>Farmers;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163A26"/>
                </a:solidFill>
                <a:latin typeface="Arial"/>
                <a:cs typeface="Arial"/>
              </a:rPr>
              <a:t>partners:</a:t>
            </a:r>
            <a:endParaRPr sz="2800">
              <a:latin typeface="Arial"/>
              <a:cs typeface="Arial"/>
            </a:endParaRPr>
          </a:p>
          <a:p>
            <a:pPr marL="12700" marR="229235">
              <a:lnSpc>
                <a:spcPct val="109400"/>
              </a:lnSpc>
              <a:spcBef>
                <a:spcPts val="75"/>
              </a:spcBef>
            </a:pPr>
            <a:r>
              <a:rPr sz="2800" spc="-70" dirty="0">
                <a:solidFill>
                  <a:srgbClr val="163A26"/>
                </a:solidFill>
                <a:latin typeface="Arial"/>
                <a:cs typeface="Arial"/>
              </a:rPr>
              <a:t>agronomists</a:t>
            </a:r>
            <a:r>
              <a:rPr sz="2800" spc="-10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163A26"/>
                </a:solidFill>
                <a:latin typeface="Arial"/>
                <a:cs typeface="Arial"/>
              </a:rPr>
              <a:t>and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cooperatives.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3287375" y="2762249"/>
            <a:ext cx="3857625" cy="2857500"/>
          </a:xfrm>
          <a:custGeom>
            <a:avLst/>
            <a:gdLst/>
            <a:ahLst/>
            <a:cxnLst/>
            <a:rect l="l" t="t" r="r" b="b"/>
            <a:pathLst>
              <a:path w="3857625" h="2857500">
                <a:moveTo>
                  <a:pt x="3667124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3667124" y="0"/>
                </a:lnTo>
                <a:lnTo>
                  <a:pt x="3713423" y="5710"/>
                </a:lnTo>
                <a:lnTo>
                  <a:pt x="3756926" y="22492"/>
                </a:lnTo>
                <a:lnTo>
                  <a:pt x="3795048" y="49340"/>
                </a:lnTo>
                <a:lnTo>
                  <a:pt x="3825519" y="84663"/>
                </a:lnTo>
                <a:lnTo>
                  <a:pt x="3846493" y="126332"/>
                </a:lnTo>
                <a:lnTo>
                  <a:pt x="3856709" y="171827"/>
                </a:lnTo>
                <a:lnTo>
                  <a:pt x="3857624" y="190499"/>
                </a:lnTo>
                <a:lnTo>
                  <a:pt x="3857624" y="2666999"/>
                </a:lnTo>
                <a:lnTo>
                  <a:pt x="3851913" y="2713298"/>
                </a:lnTo>
                <a:lnTo>
                  <a:pt x="3835132" y="2756801"/>
                </a:lnTo>
                <a:lnTo>
                  <a:pt x="3808283" y="2794923"/>
                </a:lnTo>
                <a:lnTo>
                  <a:pt x="3772960" y="2825394"/>
                </a:lnTo>
                <a:lnTo>
                  <a:pt x="3731291" y="2846368"/>
                </a:lnTo>
                <a:lnTo>
                  <a:pt x="3685796" y="2856584"/>
                </a:lnTo>
                <a:lnTo>
                  <a:pt x="3667124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3660437" y="2982757"/>
            <a:ext cx="2857500" cy="1901825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Value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800" spc="-100" dirty="0">
                <a:solidFill>
                  <a:srgbClr val="163A26"/>
                </a:solidFill>
                <a:latin typeface="Arial"/>
                <a:cs typeface="Arial"/>
              </a:rPr>
              <a:t>Clearer</a:t>
            </a:r>
            <a:r>
              <a:rPr sz="2800" spc="-6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decisions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109400"/>
              </a:lnSpc>
              <a:spcBef>
                <a:spcPts val="75"/>
              </a:spcBef>
            </a:pPr>
            <a:r>
              <a:rPr sz="2800" dirty="0">
                <a:solidFill>
                  <a:srgbClr val="163A26"/>
                </a:solidFill>
                <a:latin typeface="Arial"/>
                <a:cs typeface="Arial"/>
              </a:rPr>
              <a:t>with</a:t>
            </a:r>
            <a:r>
              <a:rPr sz="2800" spc="-6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10" dirty="0">
                <a:solidFill>
                  <a:srgbClr val="163A26"/>
                </a:solidFill>
                <a:latin typeface="Arial"/>
                <a:cs typeface="Arial"/>
              </a:rPr>
              <a:t>less</a:t>
            </a:r>
            <a:r>
              <a:rPr sz="2800" spc="-10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163A26"/>
                </a:solidFill>
                <a:latin typeface="Arial"/>
                <a:cs typeface="Arial"/>
              </a:rPr>
              <a:t>avoidable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risk.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143000" y="5810249"/>
            <a:ext cx="3857625" cy="2857500"/>
          </a:xfrm>
          <a:custGeom>
            <a:avLst/>
            <a:gdLst/>
            <a:ahLst/>
            <a:cxnLst/>
            <a:rect l="l" t="t" r="r" b="b"/>
            <a:pathLst>
              <a:path w="3857625" h="2857500">
                <a:moveTo>
                  <a:pt x="3667124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3667124" y="0"/>
                </a:lnTo>
                <a:lnTo>
                  <a:pt x="3713423" y="5710"/>
                </a:lnTo>
                <a:lnTo>
                  <a:pt x="3756926" y="22492"/>
                </a:lnTo>
                <a:lnTo>
                  <a:pt x="3795048" y="49340"/>
                </a:lnTo>
                <a:lnTo>
                  <a:pt x="3825519" y="84663"/>
                </a:lnTo>
                <a:lnTo>
                  <a:pt x="3846493" y="126332"/>
                </a:lnTo>
                <a:lnTo>
                  <a:pt x="3856709" y="171827"/>
                </a:lnTo>
                <a:lnTo>
                  <a:pt x="3857624" y="190499"/>
                </a:lnTo>
                <a:lnTo>
                  <a:pt x="3857624" y="2666999"/>
                </a:lnTo>
                <a:lnTo>
                  <a:pt x="3851913" y="2713298"/>
                </a:lnTo>
                <a:lnTo>
                  <a:pt x="3835132" y="2756801"/>
                </a:lnTo>
                <a:lnTo>
                  <a:pt x="3808283" y="2794923"/>
                </a:lnTo>
                <a:lnTo>
                  <a:pt x="3772960" y="2825394"/>
                </a:lnTo>
                <a:lnTo>
                  <a:pt x="3731291" y="2846368"/>
                </a:lnTo>
                <a:lnTo>
                  <a:pt x="3685796" y="2856584"/>
                </a:lnTo>
                <a:lnTo>
                  <a:pt x="3667124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/>
          <p:nvPr/>
        </p:nvSpPr>
        <p:spPr>
          <a:xfrm>
            <a:off x="1516062" y="6030757"/>
            <a:ext cx="2766060" cy="19018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75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Channels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Mobile/web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prototype,</a:t>
            </a:r>
            <a:r>
              <a:rPr sz="2800" spc="-13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163A26"/>
                </a:solidFill>
                <a:latin typeface="Arial"/>
                <a:cs typeface="Arial"/>
              </a:rPr>
              <a:t>field </a:t>
            </a:r>
            <a:r>
              <a:rPr sz="2800" spc="-65" dirty="0">
                <a:solidFill>
                  <a:srgbClr val="163A26"/>
                </a:solidFill>
                <a:latin typeface="Arial"/>
                <a:cs typeface="Arial"/>
              </a:rPr>
              <a:t>partners,</a:t>
            </a:r>
            <a:r>
              <a:rPr sz="2800" spc="-5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163A26"/>
                </a:solidFill>
                <a:latin typeface="Arial"/>
                <a:cs typeface="Arial"/>
              </a:rPr>
              <a:t>referrals.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191124" y="5810249"/>
            <a:ext cx="3857625" cy="2857500"/>
          </a:xfrm>
          <a:custGeom>
            <a:avLst/>
            <a:gdLst/>
            <a:ahLst/>
            <a:cxnLst/>
            <a:rect l="l" t="t" r="r" b="b"/>
            <a:pathLst>
              <a:path w="3857625" h="2857500">
                <a:moveTo>
                  <a:pt x="3667124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3667124" y="0"/>
                </a:lnTo>
                <a:lnTo>
                  <a:pt x="3713423" y="5710"/>
                </a:lnTo>
                <a:lnTo>
                  <a:pt x="3756926" y="22492"/>
                </a:lnTo>
                <a:lnTo>
                  <a:pt x="3795048" y="49340"/>
                </a:lnTo>
                <a:lnTo>
                  <a:pt x="3825519" y="84663"/>
                </a:lnTo>
                <a:lnTo>
                  <a:pt x="3846493" y="126332"/>
                </a:lnTo>
                <a:lnTo>
                  <a:pt x="3856709" y="171827"/>
                </a:lnTo>
                <a:lnTo>
                  <a:pt x="3857624" y="190499"/>
                </a:lnTo>
                <a:lnTo>
                  <a:pt x="3857624" y="2666999"/>
                </a:lnTo>
                <a:lnTo>
                  <a:pt x="3851913" y="2713298"/>
                </a:lnTo>
                <a:lnTo>
                  <a:pt x="3835132" y="2756801"/>
                </a:lnTo>
                <a:lnTo>
                  <a:pt x="3808283" y="2794923"/>
                </a:lnTo>
                <a:lnTo>
                  <a:pt x="3772960" y="2825394"/>
                </a:lnTo>
                <a:lnTo>
                  <a:pt x="3731291" y="2846368"/>
                </a:lnTo>
                <a:lnTo>
                  <a:pt x="3685796" y="2856584"/>
                </a:lnTo>
                <a:lnTo>
                  <a:pt x="3667124" y="2857499"/>
                </a:lnTo>
                <a:close/>
              </a:path>
            </a:pathLst>
          </a:custGeom>
          <a:solidFill>
            <a:srgbClr val="EAE2C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5564187" y="6030757"/>
            <a:ext cx="2659380" cy="190182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5080">
              <a:lnSpc>
                <a:spcPct val="110100"/>
              </a:lnSpc>
              <a:spcBef>
                <a:spcPts val="75"/>
              </a:spcBef>
            </a:pPr>
            <a:r>
              <a:rPr sz="2800" b="1" spc="-10" dirty="0">
                <a:solidFill>
                  <a:srgbClr val="163A26"/>
                </a:solidFill>
                <a:latin typeface="Arial"/>
                <a:cs typeface="Arial"/>
              </a:rPr>
              <a:t>Metrics </a:t>
            </a:r>
            <a:r>
              <a:rPr sz="2800" spc="-100" dirty="0">
                <a:solidFill>
                  <a:srgbClr val="163A26"/>
                </a:solidFill>
                <a:latin typeface="Arial"/>
                <a:cs typeface="Arial"/>
              </a:rPr>
              <a:t>Recommendation </a:t>
            </a:r>
            <a:r>
              <a:rPr sz="2800" spc="-190" dirty="0">
                <a:solidFill>
                  <a:srgbClr val="163A26"/>
                </a:solidFill>
                <a:latin typeface="Arial"/>
                <a:cs typeface="Arial"/>
              </a:rPr>
              <a:t>use,</a:t>
            </a:r>
            <a:r>
              <a:rPr sz="2800" spc="-8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feedback, </a:t>
            </a:r>
            <a:r>
              <a:rPr sz="2800" spc="-35" dirty="0">
                <a:solidFill>
                  <a:srgbClr val="163A26"/>
                </a:solidFill>
                <a:latin typeface="Arial"/>
                <a:cs typeface="Arial"/>
              </a:rPr>
              <a:t>repeat</a:t>
            </a:r>
            <a:r>
              <a:rPr sz="2800" spc="-15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163A26"/>
                </a:solidFill>
                <a:latin typeface="Arial"/>
                <a:cs typeface="Arial"/>
              </a:rPr>
              <a:t>planning.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9239250" y="5810249"/>
            <a:ext cx="7905750" cy="2857500"/>
          </a:xfrm>
          <a:custGeom>
            <a:avLst/>
            <a:gdLst/>
            <a:ahLst/>
            <a:cxnLst/>
            <a:rect l="l" t="t" r="r" b="b"/>
            <a:pathLst>
              <a:path w="7905750" h="2857500">
                <a:moveTo>
                  <a:pt x="7715249" y="2857499"/>
                </a:moveTo>
                <a:lnTo>
                  <a:pt x="190499" y="2857499"/>
                </a:lnTo>
                <a:lnTo>
                  <a:pt x="181141" y="2857270"/>
                </a:lnTo>
                <a:lnTo>
                  <a:pt x="135200" y="2849298"/>
                </a:lnTo>
                <a:lnTo>
                  <a:pt x="92572" y="2830403"/>
                </a:lnTo>
                <a:lnTo>
                  <a:pt x="55796" y="2801703"/>
                </a:lnTo>
                <a:lnTo>
                  <a:pt x="27095" y="2764927"/>
                </a:lnTo>
                <a:lnTo>
                  <a:pt x="8200" y="2722299"/>
                </a:lnTo>
                <a:lnTo>
                  <a:pt x="228" y="2676358"/>
                </a:lnTo>
                <a:lnTo>
                  <a:pt x="0" y="2666999"/>
                </a:lnTo>
                <a:lnTo>
                  <a:pt x="0" y="190499"/>
                </a:lnTo>
                <a:lnTo>
                  <a:pt x="5710" y="144200"/>
                </a:lnTo>
                <a:lnTo>
                  <a:pt x="22492" y="100697"/>
                </a:lnTo>
                <a:lnTo>
                  <a:pt x="49340" y="62575"/>
                </a:lnTo>
                <a:lnTo>
                  <a:pt x="84663" y="32105"/>
                </a:lnTo>
                <a:lnTo>
                  <a:pt x="126332" y="11130"/>
                </a:lnTo>
                <a:lnTo>
                  <a:pt x="171827" y="915"/>
                </a:lnTo>
                <a:lnTo>
                  <a:pt x="190499" y="0"/>
                </a:lnTo>
                <a:lnTo>
                  <a:pt x="7715249" y="0"/>
                </a:lnTo>
                <a:lnTo>
                  <a:pt x="7761548" y="5710"/>
                </a:lnTo>
                <a:lnTo>
                  <a:pt x="7805050" y="22492"/>
                </a:lnTo>
                <a:lnTo>
                  <a:pt x="7843173" y="49340"/>
                </a:lnTo>
                <a:lnTo>
                  <a:pt x="7873643" y="84663"/>
                </a:lnTo>
                <a:lnTo>
                  <a:pt x="7894618" y="126332"/>
                </a:lnTo>
                <a:lnTo>
                  <a:pt x="7904834" y="171827"/>
                </a:lnTo>
                <a:lnTo>
                  <a:pt x="7905749" y="190499"/>
                </a:lnTo>
                <a:lnTo>
                  <a:pt x="7905749" y="2666999"/>
                </a:lnTo>
                <a:lnTo>
                  <a:pt x="7900038" y="2713298"/>
                </a:lnTo>
                <a:lnTo>
                  <a:pt x="7883256" y="2756801"/>
                </a:lnTo>
                <a:lnTo>
                  <a:pt x="7856408" y="2794923"/>
                </a:lnTo>
                <a:lnTo>
                  <a:pt x="7821084" y="2825394"/>
                </a:lnTo>
                <a:lnTo>
                  <a:pt x="7779415" y="2846368"/>
                </a:lnTo>
                <a:lnTo>
                  <a:pt x="7733921" y="2856584"/>
                </a:lnTo>
                <a:lnTo>
                  <a:pt x="7715249" y="28574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10017124" y="6030757"/>
            <a:ext cx="6223635" cy="95885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10" dirty="0">
                <a:solidFill>
                  <a:srgbClr val="F4EFE3"/>
                </a:solidFill>
                <a:latin typeface="Arial"/>
                <a:cs typeface="Arial"/>
              </a:rPr>
              <a:t>Advantage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sz="2800" spc="-100" dirty="0">
                <a:solidFill>
                  <a:srgbClr val="F4EFE3"/>
                </a:solidFill>
                <a:latin typeface="Arial"/>
                <a:cs typeface="Arial"/>
              </a:rPr>
              <a:t>Transparent,</a:t>
            </a:r>
            <a:r>
              <a:rPr sz="2800" spc="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farmer-</a:t>
            </a:r>
            <a:r>
              <a:rPr sz="2800" spc="110" dirty="0">
                <a:solidFill>
                  <a:srgbClr val="F4EFE3"/>
                </a:solidFill>
                <a:latin typeface="Arial"/>
                <a:cs typeface="Arial"/>
              </a:rPr>
              <a:t>in-</a:t>
            </a:r>
            <a:r>
              <a:rPr sz="2800" spc="95" dirty="0">
                <a:solidFill>
                  <a:srgbClr val="F4EFE3"/>
                </a:solidFill>
                <a:latin typeface="Arial"/>
                <a:cs typeface="Arial"/>
              </a:rPr>
              <a:t>the-</a:t>
            </a:r>
            <a:r>
              <a:rPr sz="2800" spc="-20" dirty="0">
                <a:solidFill>
                  <a:srgbClr val="F4EFE3"/>
                </a:solidFill>
                <a:latin typeface="Arial"/>
                <a:cs typeface="Arial"/>
              </a:rPr>
              <a:t>loop</a:t>
            </a:r>
            <a:r>
              <a:rPr sz="280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F4EFE3"/>
                </a:solidFill>
                <a:latin typeface="Arial"/>
                <a:cs typeface="Arial"/>
              </a:rPr>
              <a:t>context.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341058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B5832A"/>
                </a:solidFill>
                <a:latin typeface="Arial"/>
                <a:cs typeface="Arial"/>
              </a:rPr>
              <a:t>CAPITAL</a:t>
            </a:r>
            <a:r>
              <a:rPr sz="2400" b="1" spc="60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65" dirty="0">
                <a:solidFill>
                  <a:srgbClr val="B5832A"/>
                </a:solidFill>
                <a:latin typeface="Arial"/>
                <a:cs typeface="Arial"/>
              </a:rPr>
              <a:t>(FINANCIAL)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130300" y="1560454"/>
            <a:ext cx="5349875" cy="1751964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 marR="5080">
              <a:lnSpc>
                <a:spcPts val="6230"/>
              </a:lnSpc>
              <a:spcBef>
                <a:spcPts val="1250"/>
              </a:spcBef>
            </a:pPr>
            <a:r>
              <a:rPr spc="-555" dirty="0"/>
              <a:t>Funding</a:t>
            </a:r>
            <a:r>
              <a:rPr spc="-755" dirty="0"/>
              <a:t> </a:t>
            </a:r>
            <a:r>
              <a:rPr spc="-645" dirty="0"/>
              <a:t>the</a:t>
            </a:r>
            <a:r>
              <a:rPr spc="-815" dirty="0"/>
              <a:t> </a:t>
            </a:r>
            <a:r>
              <a:rPr spc="-405" dirty="0"/>
              <a:t>first </a:t>
            </a:r>
            <a:r>
              <a:rPr spc="-695" dirty="0"/>
              <a:t>h</a:t>
            </a:r>
            <a:r>
              <a:rPr spc="-725" dirty="0"/>
              <a:t>a</a:t>
            </a:r>
            <a:r>
              <a:rPr spc="-700" dirty="0"/>
              <a:t>r</a:t>
            </a:r>
            <a:r>
              <a:rPr spc="-800" dirty="0"/>
              <a:t>v</a:t>
            </a:r>
            <a:r>
              <a:rPr spc="-730" dirty="0"/>
              <a:t>e</a:t>
            </a:r>
            <a:r>
              <a:rPr spc="-250" dirty="0"/>
              <a:t>s</a:t>
            </a:r>
            <a:r>
              <a:rPr spc="-550" dirty="0"/>
              <a:t>t</a:t>
            </a:r>
          </a:p>
        </p:txBody>
      </p:sp>
      <p:sp>
        <p:nvSpPr>
          <p:cNvPr id="4" name="object 4"/>
          <p:cNvSpPr/>
          <p:nvPr/>
        </p:nvSpPr>
        <p:spPr>
          <a:xfrm>
            <a:off x="1143000" y="4572000"/>
            <a:ext cx="4000500" cy="666750"/>
          </a:xfrm>
          <a:custGeom>
            <a:avLst/>
            <a:gdLst/>
            <a:ahLst/>
            <a:cxnLst/>
            <a:rect l="l" t="t" r="r" b="b"/>
            <a:pathLst>
              <a:path w="4000500" h="666750">
                <a:moveTo>
                  <a:pt x="3667124" y="666749"/>
                </a:moveTo>
                <a:lnTo>
                  <a:pt x="333374" y="666749"/>
                </a:lnTo>
                <a:lnTo>
                  <a:pt x="325191" y="666649"/>
                </a:lnTo>
                <a:lnTo>
                  <a:pt x="284458" y="663141"/>
                </a:lnTo>
                <a:lnTo>
                  <a:pt x="244461" y="654674"/>
                </a:lnTo>
                <a:lnTo>
                  <a:pt x="205797" y="641373"/>
                </a:lnTo>
                <a:lnTo>
                  <a:pt x="169052" y="623439"/>
                </a:lnTo>
                <a:lnTo>
                  <a:pt x="134783" y="601144"/>
                </a:lnTo>
                <a:lnTo>
                  <a:pt x="103501" y="574822"/>
                </a:lnTo>
                <a:lnTo>
                  <a:pt x="75672" y="544865"/>
                </a:lnTo>
                <a:lnTo>
                  <a:pt x="51720" y="511727"/>
                </a:lnTo>
                <a:lnTo>
                  <a:pt x="32007" y="475911"/>
                </a:lnTo>
                <a:lnTo>
                  <a:pt x="16826" y="437950"/>
                </a:lnTo>
                <a:lnTo>
                  <a:pt x="6405" y="398413"/>
                </a:lnTo>
                <a:lnTo>
                  <a:pt x="902" y="357897"/>
                </a:lnTo>
                <a:lnTo>
                  <a:pt x="0" y="333374"/>
                </a:lnTo>
                <a:lnTo>
                  <a:pt x="100" y="325191"/>
                </a:lnTo>
                <a:lnTo>
                  <a:pt x="3608" y="284458"/>
                </a:lnTo>
                <a:lnTo>
                  <a:pt x="12075" y="244461"/>
                </a:lnTo>
                <a:lnTo>
                  <a:pt x="25376" y="205797"/>
                </a:lnTo>
                <a:lnTo>
                  <a:pt x="43310" y="169052"/>
                </a:lnTo>
                <a:lnTo>
                  <a:pt x="65605" y="134783"/>
                </a:lnTo>
                <a:lnTo>
                  <a:pt x="91927" y="103501"/>
                </a:lnTo>
                <a:lnTo>
                  <a:pt x="121884" y="75672"/>
                </a:lnTo>
                <a:lnTo>
                  <a:pt x="155022" y="51720"/>
                </a:lnTo>
                <a:lnTo>
                  <a:pt x="190838" y="32007"/>
                </a:lnTo>
                <a:lnTo>
                  <a:pt x="228798" y="16826"/>
                </a:lnTo>
                <a:lnTo>
                  <a:pt x="268336" y="6405"/>
                </a:lnTo>
                <a:lnTo>
                  <a:pt x="308852" y="902"/>
                </a:lnTo>
                <a:lnTo>
                  <a:pt x="333374" y="0"/>
                </a:lnTo>
                <a:lnTo>
                  <a:pt x="3667124" y="0"/>
                </a:lnTo>
                <a:lnTo>
                  <a:pt x="3707935" y="2507"/>
                </a:lnTo>
                <a:lnTo>
                  <a:pt x="3748128" y="9990"/>
                </a:lnTo>
                <a:lnTo>
                  <a:pt x="3787102" y="22337"/>
                </a:lnTo>
                <a:lnTo>
                  <a:pt x="3824276" y="39364"/>
                </a:lnTo>
                <a:lnTo>
                  <a:pt x="3859087" y="60813"/>
                </a:lnTo>
                <a:lnTo>
                  <a:pt x="3891006" y="86360"/>
                </a:lnTo>
                <a:lnTo>
                  <a:pt x="3919557" y="115621"/>
                </a:lnTo>
                <a:lnTo>
                  <a:pt x="3944315" y="148161"/>
                </a:lnTo>
                <a:lnTo>
                  <a:pt x="3964904" y="183487"/>
                </a:lnTo>
                <a:lnTo>
                  <a:pt x="3981011" y="221064"/>
                </a:lnTo>
                <a:lnTo>
                  <a:pt x="3992398" y="260329"/>
                </a:lnTo>
                <a:lnTo>
                  <a:pt x="3998894" y="300698"/>
                </a:lnTo>
                <a:lnTo>
                  <a:pt x="4000499" y="333374"/>
                </a:lnTo>
                <a:lnTo>
                  <a:pt x="4000399" y="341558"/>
                </a:lnTo>
                <a:lnTo>
                  <a:pt x="3996891" y="382291"/>
                </a:lnTo>
                <a:lnTo>
                  <a:pt x="3988424" y="422287"/>
                </a:lnTo>
                <a:lnTo>
                  <a:pt x="3975122" y="460951"/>
                </a:lnTo>
                <a:lnTo>
                  <a:pt x="3957188" y="497697"/>
                </a:lnTo>
                <a:lnTo>
                  <a:pt x="3934893" y="531966"/>
                </a:lnTo>
                <a:lnTo>
                  <a:pt x="3908572" y="563248"/>
                </a:lnTo>
                <a:lnTo>
                  <a:pt x="3878615" y="591077"/>
                </a:lnTo>
                <a:lnTo>
                  <a:pt x="3845477" y="615029"/>
                </a:lnTo>
                <a:lnTo>
                  <a:pt x="3809660" y="634742"/>
                </a:lnTo>
                <a:lnTo>
                  <a:pt x="3771700" y="649923"/>
                </a:lnTo>
                <a:lnTo>
                  <a:pt x="3732162" y="660344"/>
                </a:lnTo>
                <a:lnTo>
                  <a:pt x="3691646" y="665847"/>
                </a:lnTo>
                <a:lnTo>
                  <a:pt x="3667124" y="66674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544637" y="4701088"/>
            <a:ext cx="3199765" cy="35877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150" b="1" spc="-105" dirty="0">
                <a:solidFill>
                  <a:srgbClr val="163A26"/>
                </a:solidFill>
                <a:latin typeface="Tahoma"/>
                <a:cs typeface="Tahoma"/>
              </a:rPr>
              <a:t>Assumptions,</a:t>
            </a:r>
            <a:r>
              <a:rPr sz="2150" b="1" spc="-11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150" b="1" spc="-114" dirty="0">
                <a:solidFill>
                  <a:srgbClr val="163A26"/>
                </a:solidFill>
                <a:latin typeface="Tahoma"/>
                <a:cs typeface="Tahoma"/>
              </a:rPr>
              <a:t>not</a:t>
            </a:r>
            <a:r>
              <a:rPr sz="2150" b="1" spc="-11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150" b="1" spc="-35" dirty="0">
                <a:solidFill>
                  <a:srgbClr val="163A26"/>
                </a:solidFill>
                <a:latin typeface="Tahoma"/>
                <a:cs typeface="Tahoma"/>
              </a:rPr>
              <a:t>actuals</a:t>
            </a:r>
            <a:endParaRPr sz="215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8178800" y="1691665"/>
            <a:ext cx="212217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spc="-90" dirty="0">
                <a:solidFill>
                  <a:srgbClr val="163A26"/>
                </a:solidFill>
                <a:latin typeface="Arial"/>
                <a:cs typeface="Arial"/>
              </a:rPr>
              <a:t>EARLY</a:t>
            </a:r>
            <a:r>
              <a:rPr sz="2400" b="1" spc="-6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400" b="1" spc="-20" dirty="0">
                <a:solidFill>
                  <a:srgbClr val="163A26"/>
                </a:solidFill>
                <a:latin typeface="Arial"/>
                <a:cs typeface="Arial"/>
              </a:rPr>
              <a:t>COSTS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178800" y="2125507"/>
            <a:ext cx="821055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2800" spc="-75" dirty="0">
                <a:solidFill>
                  <a:srgbClr val="2E3B33"/>
                </a:solidFill>
                <a:latin typeface="Arial"/>
                <a:cs typeface="Arial"/>
              </a:rPr>
              <a:t>Product</a:t>
            </a: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40" dirty="0">
                <a:solidFill>
                  <a:srgbClr val="2E3B33"/>
                </a:solidFill>
                <a:latin typeface="Arial"/>
                <a:cs typeface="Arial"/>
              </a:rPr>
              <a:t>design,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2E3B33"/>
                </a:solidFill>
                <a:latin typeface="Arial"/>
                <a:cs typeface="Arial"/>
              </a:rPr>
              <a:t>hosting,</a:t>
            </a:r>
            <a:r>
              <a:rPr sz="2800" spc="-14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2E3B33"/>
                </a:solidFill>
                <a:latin typeface="Arial"/>
                <a:cs typeface="Arial"/>
              </a:rPr>
              <a:t>data</a:t>
            </a:r>
            <a:r>
              <a:rPr sz="2800" spc="-8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45" dirty="0">
                <a:solidFill>
                  <a:srgbClr val="2E3B33"/>
                </a:solidFill>
                <a:latin typeface="Arial"/>
                <a:cs typeface="Arial"/>
              </a:rPr>
              <a:t>access,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2E3B33"/>
                </a:solidFill>
                <a:latin typeface="Arial"/>
                <a:cs typeface="Arial"/>
              </a:rPr>
              <a:t>field</a:t>
            </a: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35" dirty="0">
                <a:solidFill>
                  <a:srgbClr val="2E3B33"/>
                </a:solidFill>
                <a:latin typeface="Arial"/>
                <a:cs typeface="Arial"/>
              </a:rPr>
              <a:t>research, </a:t>
            </a:r>
            <a:r>
              <a:rPr sz="2800" spc="-55" dirty="0">
                <a:solidFill>
                  <a:srgbClr val="2E3B33"/>
                </a:solidFill>
                <a:latin typeface="Arial"/>
                <a:cs typeface="Arial"/>
              </a:rPr>
              <a:t>and </a:t>
            </a:r>
            <a:r>
              <a:rPr sz="2800" spc="-35" dirty="0">
                <a:solidFill>
                  <a:srgbClr val="2E3B33"/>
                </a:solidFill>
                <a:latin typeface="Arial"/>
                <a:cs typeface="Arial"/>
              </a:rPr>
              <a:t>partner</a:t>
            </a:r>
            <a:r>
              <a:rPr sz="2800" spc="-13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support.</a:t>
            </a:r>
            <a:endParaRPr sz="2800">
              <a:latin typeface="Arial"/>
              <a:cs typeface="Arial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8191500" y="3524250"/>
            <a:ext cx="8953500" cy="0"/>
          </a:xfrm>
          <a:custGeom>
            <a:avLst/>
            <a:gdLst/>
            <a:ahLst/>
            <a:cxnLst/>
            <a:rect l="l" t="t" r="r" b="b"/>
            <a:pathLst>
              <a:path w="8953500">
                <a:moveTo>
                  <a:pt x="0" y="0"/>
                </a:moveTo>
                <a:lnTo>
                  <a:pt x="8953499" y="0"/>
                </a:lnTo>
              </a:path>
            </a:pathLst>
          </a:custGeom>
          <a:ln w="19049">
            <a:solidFill>
              <a:srgbClr val="163A2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178800" y="3882415"/>
            <a:ext cx="4503420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163A26"/>
                </a:solidFill>
                <a:latin typeface="Arial"/>
                <a:cs typeface="Arial"/>
              </a:rPr>
              <a:t>POTENTIAL</a:t>
            </a:r>
            <a:r>
              <a:rPr sz="2400" b="1" spc="20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63A26"/>
                </a:solidFill>
                <a:latin typeface="Arial"/>
                <a:cs typeface="Arial"/>
              </a:rPr>
              <a:t>MODELS</a:t>
            </a:r>
            <a:r>
              <a:rPr sz="2400" b="1" spc="-5" dirty="0">
                <a:solidFill>
                  <a:srgbClr val="163A26"/>
                </a:solidFill>
                <a:latin typeface="Arial"/>
                <a:cs typeface="Arial"/>
              </a:rPr>
              <a:t> </a:t>
            </a:r>
            <a:r>
              <a:rPr sz="2400" b="1" dirty="0">
                <a:solidFill>
                  <a:srgbClr val="163A26"/>
                </a:solidFill>
                <a:latin typeface="Arial"/>
                <a:cs typeface="Arial"/>
              </a:rPr>
              <a:t>TO</a:t>
            </a:r>
            <a:r>
              <a:rPr sz="2400" b="1" spc="-20" dirty="0">
                <a:solidFill>
                  <a:srgbClr val="163A26"/>
                </a:solidFill>
                <a:latin typeface="Arial"/>
                <a:cs typeface="Arial"/>
              </a:rPr>
              <a:t> TEST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178800" y="4316257"/>
            <a:ext cx="8581390" cy="95885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9400"/>
              </a:lnSpc>
              <a:spcBef>
                <a:spcPts val="95"/>
              </a:spcBef>
            </a:pPr>
            <a:r>
              <a:rPr sz="2800" spc="-65" dirty="0">
                <a:solidFill>
                  <a:srgbClr val="2E3B33"/>
                </a:solidFill>
                <a:latin typeface="Arial"/>
                <a:cs typeface="Arial"/>
              </a:rPr>
              <a:t>Grant</a:t>
            </a:r>
            <a:r>
              <a:rPr sz="2800" spc="-16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funding,</a:t>
            </a:r>
            <a:r>
              <a:rPr sz="2800" spc="-15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2E3B33"/>
                </a:solidFill>
                <a:latin typeface="Arial"/>
                <a:cs typeface="Arial"/>
              </a:rPr>
              <a:t>pilot</a:t>
            </a:r>
            <a:r>
              <a:rPr sz="2800" spc="-16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85" dirty="0">
                <a:solidFill>
                  <a:srgbClr val="2E3B33"/>
                </a:solidFill>
                <a:latin typeface="Arial"/>
                <a:cs typeface="Arial"/>
              </a:rPr>
              <a:t>partnerships,</a:t>
            </a:r>
            <a:r>
              <a:rPr sz="2800" spc="-1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or</a:t>
            </a:r>
            <a:r>
              <a:rPr sz="2800" spc="-10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2E3B33"/>
                </a:solidFill>
                <a:latin typeface="Arial"/>
                <a:cs typeface="Arial"/>
              </a:rPr>
              <a:t>a</a:t>
            </a:r>
            <a:r>
              <a:rPr sz="2800" spc="-10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2E3B33"/>
                </a:solidFill>
                <a:latin typeface="Arial"/>
                <a:cs typeface="Arial"/>
              </a:rPr>
              <a:t>subscription/service </a:t>
            </a:r>
            <a:r>
              <a:rPr sz="2800" spc="-10" dirty="0">
                <a:solidFill>
                  <a:srgbClr val="2E3B33"/>
                </a:solidFill>
                <a:latin typeface="Arial"/>
                <a:cs typeface="Arial"/>
              </a:rPr>
              <a:t>plan.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191500" y="5905499"/>
            <a:ext cx="8953500" cy="2286000"/>
          </a:xfrm>
          <a:custGeom>
            <a:avLst/>
            <a:gdLst/>
            <a:ahLst/>
            <a:cxnLst/>
            <a:rect l="l" t="t" r="r" b="b"/>
            <a:pathLst>
              <a:path w="8953500" h="2286000">
                <a:moveTo>
                  <a:pt x="8732386" y="2285999"/>
                </a:moveTo>
                <a:lnTo>
                  <a:pt x="221113" y="2285999"/>
                </a:lnTo>
                <a:lnTo>
                  <a:pt x="213644" y="2285632"/>
                </a:lnTo>
                <a:lnTo>
                  <a:pt x="169405" y="2278329"/>
                </a:lnTo>
                <a:lnTo>
                  <a:pt x="127441" y="2262536"/>
                </a:lnTo>
                <a:lnTo>
                  <a:pt x="89365" y="2238859"/>
                </a:lnTo>
                <a:lnTo>
                  <a:pt x="56639" y="2208209"/>
                </a:lnTo>
                <a:lnTo>
                  <a:pt x="30522" y="2171763"/>
                </a:lnTo>
                <a:lnTo>
                  <a:pt x="12016" y="2130923"/>
                </a:lnTo>
                <a:lnTo>
                  <a:pt x="1834" y="2087257"/>
                </a:lnTo>
                <a:lnTo>
                  <a:pt x="0" y="2064886"/>
                </a:lnTo>
                <a:lnTo>
                  <a:pt x="0" y="221113"/>
                </a:lnTo>
                <a:lnTo>
                  <a:pt x="5853" y="176659"/>
                </a:lnTo>
                <a:lnTo>
                  <a:pt x="20266" y="134201"/>
                </a:lnTo>
                <a:lnTo>
                  <a:pt x="42685" y="95371"/>
                </a:lnTo>
                <a:lnTo>
                  <a:pt x="72249" y="61661"/>
                </a:lnTo>
                <a:lnTo>
                  <a:pt x="107821" y="34366"/>
                </a:lnTo>
                <a:lnTo>
                  <a:pt x="148035" y="14536"/>
                </a:lnTo>
                <a:lnTo>
                  <a:pt x="191345" y="2931"/>
                </a:lnTo>
                <a:lnTo>
                  <a:pt x="221113" y="0"/>
                </a:lnTo>
                <a:lnTo>
                  <a:pt x="228599" y="0"/>
                </a:lnTo>
                <a:lnTo>
                  <a:pt x="8732386" y="0"/>
                </a:lnTo>
                <a:lnTo>
                  <a:pt x="8776839" y="5853"/>
                </a:lnTo>
                <a:lnTo>
                  <a:pt x="8819297" y="20266"/>
                </a:lnTo>
                <a:lnTo>
                  <a:pt x="8858127" y="42685"/>
                </a:lnTo>
                <a:lnTo>
                  <a:pt x="8891837" y="72249"/>
                </a:lnTo>
                <a:lnTo>
                  <a:pt x="8919132" y="107821"/>
                </a:lnTo>
                <a:lnTo>
                  <a:pt x="8938962" y="148035"/>
                </a:lnTo>
                <a:lnTo>
                  <a:pt x="8950567" y="191345"/>
                </a:lnTo>
                <a:lnTo>
                  <a:pt x="8953499" y="221113"/>
                </a:lnTo>
                <a:lnTo>
                  <a:pt x="8953499" y="2064886"/>
                </a:lnTo>
                <a:lnTo>
                  <a:pt x="8947646" y="2109340"/>
                </a:lnTo>
                <a:lnTo>
                  <a:pt x="8933232" y="2151798"/>
                </a:lnTo>
                <a:lnTo>
                  <a:pt x="8910812" y="2190628"/>
                </a:lnTo>
                <a:lnTo>
                  <a:pt x="8881250" y="2224338"/>
                </a:lnTo>
                <a:lnTo>
                  <a:pt x="8845676" y="2251633"/>
                </a:lnTo>
                <a:lnTo>
                  <a:pt x="8805462" y="2271463"/>
                </a:lnTo>
                <a:lnTo>
                  <a:pt x="8762153" y="2283067"/>
                </a:lnTo>
                <a:lnTo>
                  <a:pt x="8739855" y="2285632"/>
                </a:lnTo>
                <a:lnTo>
                  <a:pt x="8732386" y="2285999"/>
                </a:lnTo>
                <a:close/>
              </a:path>
            </a:pathLst>
          </a:custGeom>
          <a:solidFill>
            <a:srgbClr val="163A2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9074150" y="6278407"/>
            <a:ext cx="7096759" cy="1435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9"/>
              </a:spcBef>
            </a:pPr>
            <a:r>
              <a:rPr sz="2800" b="1" spc="-70" dirty="0">
                <a:solidFill>
                  <a:srgbClr val="F4EFE3"/>
                </a:solidFill>
                <a:latin typeface="Arial"/>
                <a:cs typeface="Arial"/>
              </a:rPr>
              <a:t>Next</a:t>
            </a:r>
            <a:r>
              <a:rPr sz="2800" b="1" spc="-155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b="1" spc="-20" dirty="0">
                <a:solidFill>
                  <a:srgbClr val="F4EFE3"/>
                </a:solidFill>
                <a:latin typeface="Arial"/>
                <a:cs typeface="Arial"/>
              </a:rPr>
              <a:t>step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ts val="3750"/>
              </a:lnSpc>
              <a:spcBef>
                <a:spcPts val="30"/>
              </a:spcBef>
            </a:pPr>
            <a:r>
              <a:rPr sz="2800" spc="-75" dirty="0">
                <a:solidFill>
                  <a:srgbClr val="F4EFE3"/>
                </a:solidFill>
                <a:latin typeface="Arial"/>
                <a:cs typeface="Arial"/>
              </a:rPr>
              <a:t>Validate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F4EFE3"/>
                </a:solidFill>
                <a:latin typeface="Arial"/>
                <a:cs typeface="Arial"/>
              </a:rPr>
              <a:t>willingness</a:t>
            </a:r>
            <a:r>
              <a:rPr sz="2800" spc="-11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65" dirty="0">
                <a:solidFill>
                  <a:srgbClr val="F4EFE3"/>
                </a:solidFill>
                <a:latin typeface="Arial"/>
                <a:cs typeface="Arial"/>
              </a:rPr>
              <a:t>to</a:t>
            </a:r>
            <a:r>
              <a:rPr sz="2800" spc="-12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50" dirty="0">
                <a:solidFill>
                  <a:srgbClr val="F4EFE3"/>
                </a:solidFill>
                <a:latin typeface="Arial"/>
                <a:cs typeface="Arial"/>
              </a:rPr>
              <a:t>pay</a:t>
            </a:r>
            <a:r>
              <a:rPr sz="2800" spc="-10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F4EFE3"/>
                </a:solidFill>
                <a:latin typeface="Arial"/>
                <a:cs typeface="Arial"/>
              </a:rPr>
              <a:t>and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F4EFE3"/>
                </a:solidFill>
                <a:latin typeface="Arial"/>
                <a:cs typeface="Arial"/>
              </a:rPr>
              <a:t>build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F4EFE3"/>
                </a:solidFill>
                <a:latin typeface="Arial"/>
                <a:cs typeface="Arial"/>
              </a:rPr>
              <a:t>a</a:t>
            </a:r>
            <a:r>
              <a:rPr sz="2800" spc="-7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bottom-</a:t>
            </a:r>
            <a:r>
              <a:rPr sz="2800" spc="-35" dirty="0">
                <a:solidFill>
                  <a:srgbClr val="F4EFE3"/>
                </a:solidFill>
                <a:latin typeface="Arial"/>
                <a:cs typeface="Arial"/>
              </a:rPr>
              <a:t>up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60" dirty="0">
                <a:solidFill>
                  <a:srgbClr val="F4EFE3"/>
                </a:solidFill>
                <a:latin typeface="Arial"/>
                <a:cs typeface="Arial"/>
              </a:rPr>
              <a:t>budget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55" dirty="0">
                <a:solidFill>
                  <a:srgbClr val="F4EFE3"/>
                </a:solidFill>
                <a:latin typeface="Arial"/>
                <a:cs typeface="Arial"/>
              </a:rPr>
              <a:t>before</a:t>
            </a:r>
            <a:r>
              <a:rPr sz="2800" spc="-13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F4EFE3"/>
                </a:solidFill>
                <a:latin typeface="Arial"/>
                <a:cs typeface="Arial"/>
              </a:rPr>
              <a:t>quoting</a:t>
            </a:r>
            <a:r>
              <a:rPr sz="2800" spc="-110" dirty="0">
                <a:solidFill>
                  <a:srgbClr val="F4EFE3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F4EFE3"/>
                </a:solidFill>
                <a:latin typeface="Arial"/>
                <a:cs typeface="Arial"/>
              </a:rPr>
              <a:t>figures.</a:t>
            </a:r>
            <a:endParaRPr sz="280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0300" y="1120165"/>
            <a:ext cx="318325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B5832A"/>
                </a:solidFill>
                <a:latin typeface="Arial"/>
                <a:cs typeface="Arial"/>
              </a:rPr>
              <a:t>ROADMAP/</a:t>
            </a:r>
            <a:r>
              <a:rPr sz="2400" b="1" spc="-305" dirty="0">
                <a:solidFill>
                  <a:srgbClr val="B5832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B5832A"/>
                </a:solidFill>
                <a:latin typeface="Arial"/>
                <a:cs typeface="Arial"/>
              </a:rPr>
              <a:t>TIMELINE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500" dirty="0"/>
              <a:t>From</a:t>
            </a:r>
            <a:r>
              <a:rPr spc="-800" dirty="0"/>
              <a:t> </a:t>
            </a:r>
            <a:r>
              <a:rPr spc="-740" dirty="0"/>
              <a:t>seed</a:t>
            </a:r>
            <a:r>
              <a:rPr spc="-780" dirty="0"/>
              <a:t> </a:t>
            </a:r>
            <a:r>
              <a:rPr spc="-595" dirty="0"/>
              <a:t>idea</a:t>
            </a:r>
            <a:r>
              <a:rPr spc="-819" dirty="0"/>
              <a:t> </a:t>
            </a:r>
            <a:r>
              <a:rPr spc="-570" dirty="0"/>
              <a:t>to</a:t>
            </a:r>
            <a:r>
              <a:rPr spc="-790" dirty="0"/>
              <a:t> </a:t>
            </a:r>
            <a:r>
              <a:rPr spc="-545" dirty="0"/>
              <a:t>regional</a:t>
            </a:r>
            <a:r>
              <a:rPr spc="-790" dirty="0"/>
              <a:t> </a:t>
            </a:r>
            <a:r>
              <a:rPr spc="-600" dirty="0"/>
              <a:t>scale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1523999" y="4333875"/>
            <a:ext cx="15239365" cy="476250"/>
            <a:chOff x="1523999" y="4333875"/>
            <a:chExt cx="15239365" cy="476250"/>
          </a:xfrm>
        </p:grpSpPr>
        <p:sp>
          <p:nvSpPr>
            <p:cNvPr id="5" name="object 5"/>
            <p:cNvSpPr/>
            <p:nvPr/>
          </p:nvSpPr>
          <p:spPr>
            <a:xfrm>
              <a:off x="1524000" y="4557712"/>
              <a:ext cx="15211425" cy="28575"/>
            </a:xfrm>
            <a:custGeom>
              <a:avLst/>
              <a:gdLst/>
              <a:ahLst/>
              <a:cxnLst/>
              <a:rect l="l" t="t" r="r" b="b"/>
              <a:pathLst>
                <a:path w="15211425" h="28575">
                  <a:moveTo>
                    <a:pt x="15211423" y="28574"/>
                  </a:moveTo>
                  <a:lnTo>
                    <a:pt x="0" y="28574"/>
                  </a:lnTo>
                  <a:lnTo>
                    <a:pt x="0" y="0"/>
                  </a:lnTo>
                  <a:lnTo>
                    <a:pt x="15211423" y="0"/>
                  </a:lnTo>
                  <a:lnTo>
                    <a:pt x="15211423" y="28574"/>
                  </a:lnTo>
                  <a:close/>
                </a:path>
              </a:pathLst>
            </a:custGeom>
            <a:solidFill>
              <a:srgbClr val="163A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6620267" y="4486274"/>
              <a:ext cx="142875" cy="171450"/>
            </a:xfrm>
            <a:custGeom>
              <a:avLst/>
              <a:gdLst/>
              <a:ahLst/>
              <a:cxnLst/>
              <a:rect l="l" t="t" r="r" b="b"/>
              <a:pathLst>
                <a:path w="142875" h="171450">
                  <a:moveTo>
                    <a:pt x="0" y="171450"/>
                  </a:moveTo>
                  <a:lnTo>
                    <a:pt x="0" y="0"/>
                  </a:lnTo>
                  <a:lnTo>
                    <a:pt x="142875" y="85725"/>
                  </a:lnTo>
                  <a:lnTo>
                    <a:pt x="0" y="171450"/>
                  </a:lnTo>
                  <a:close/>
                </a:path>
              </a:pathLst>
            </a:custGeom>
            <a:solidFill>
              <a:srgbClr val="163A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523987" y="4333874"/>
              <a:ext cx="8667750" cy="476250"/>
            </a:xfrm>
            <a:custGeom>
              <a:avLst/>
              <a:gdLst/>
              <a:ahLst/>
              <a:cxnLst/>
              <a:rect l="l" t="t" r="r" b="b"/>
              <a:pathLst>
                <a:path w="8667750" h="476250">
                  <a:moveTo>
                    <a:pt x="476250" y="230327"/>
                  </a:moveTo>
                  <a:lnTo>
                    <a:pt x="470154" y="184023"/>
                  </a:lnTo>
                  <a:lnTo>
                    <a:pt x="455142" y="139801"/>
                  </a:lnTo>
                  <a:lnTo>
                    <a:pt x="431787" y="99352"/>
                  </a:lnTo>
                  <a:lnTo>
                    <a:pt x="401002" y="64236"/>
                  </a:lnTo>
                  <a:lnTo>
                    <a:pt x="363943" y="35801"/>
                  </a:lnTo>
                  <a:lnTo>
                    <a:pt x="322046" y="15151"/>
                  </a:lnTo>
                  <a:lnTo>
                    <a:pt x="276936" y="3060"/>
                  </a:lnTo>
                  <a:lnTo>
                    <a:pt x="245935" y="0"/>
                  </a:lnTo>
                  <a:lnTo>
                    <a:pt x="238125" y="0"/>
                  </a:lnTo>
                  <a:lnTo>
                    <a:pt x="230327" y="0"/>
                  </a:lnTo>
                  <a:lnTo>
                    <a:pt x="184023" y="6108"/>
                  </a:lnTo>
                  <a:lnTo>
                    <a:pt x="139801" y="21120"/>
                  </a:lnTo>
                  <a:lnTo>
                    <a:pt x="99352" y="44475"/>
                  </a:lnTo>
                  <a:lnTo>
                    <a:pt x="64236" y="75260"/>
                  </a:lnTo>
                  <a:lnTo>
                    <a:pt x="35801" y="112318"/>
                  </a:lnTo>
                  <a:lnTo>
                    <a:pt x="15151" y="154216"/>
                  </a:lnTo>
                  <a:lnTo>
                    <a:pt x="3060" y="199326"/>
                  </a:lnTo>
                  <a:lnTo>
                    <a:pt x="0" y="230327"/>
                  </a:lnTo>
                  <a:lnTo>
                    <a:pt x="0" y="245935"/>
                  </a:lnTo>
                  <a:lnTo>
                    <a:pt x="6108" y="292239"/>
                  </a:lnTo>
                  <a:lnTo>
                    <a:pt x="21120" y="336461"/>
                  </a:lnTo>
                  <a:lnTo>
                    <a:pt x="44475" y="376910"/>
                  </a:lnTo>
                  <a:lnTo>
                    <a:pt x="75260" y="412026"/>
                  </a:lnTo>
                  <a:lnTo>
                    <a:pt x="112318" y="440461"/>
                  </a:lnTo>
                  <a:lnTo>
                    <a:pt x="154216" y="461111"/>
                  </a:lnTo>
                  <a:lnTo>
                    <a:pt x="199326" y="473202"/>
                  </a:lnTo>
                  <a:lnTo>
                    <a:pt x="230327" y="476250"/>
                  </a:lnTo>
                  <a:lnTo>
                    <a:pt x="245935" y="476250"/>
                  </a:lnTo>
                  <a:lnTo>
                    <a:pt x="292239" y="470154"/>
                  </a:lnTo>
                  <a:lnTo>
                    <a:pt x="336461" y="455142"/>
                  </a:lnTo>
                  <a:lnTo>
                    <a:pt x="376910" y="431787"/>
                  </a:lnTo>
                  <a:lnTo>
                    <a:pt x="412026" y="401002"/>
                  </a:lnTo>
                  <a:lnTo>
                    <a:pt x="440461" y="363943"/>
                  </a:lnTo>
                  <a:lnTo>
                    <a:pt x="461111" y="322046"/>
                  </a:lnTo>
                  <a:lnTo>
                    <a:pt x="473202" y="276936"/>
                  </a:lnTo>
                  <a:lnTo>
                    <a:pt x="476250" y="245935"/>
                  </a:lnTo>
                  <a:lnTo>
                    <a:pt x="476250" y="230327"/>
                  </a:lnTo>
                  <a:close/>
                </a:path>
                <a:path w="8667750" h="476250">
                  <a:moveTo>
                    <a:pt x="4572000" y="230327"/>
                  </a:moveTo>
                  <a:lnTo>
                    <a:pt x="4565904" y="184023"/>
                  </a:lnTo>
                  <a:lnTo>
                    <a:pt x="4550892" y="139801"/>
                  </a:lnTo>
                  <a:lnTo>
                    <a:pt x="4527537" y="99352"/>
                  </a:lnTo>
                  <a:lnTo>
                    <a:pt x="4496752" y="64236"/>
                  </a:lnTo>
                  <a:lnTo>
                    <a:pt x="4459694" y="35801"/>
                  </a:lnTo>
                  <a:lnTo>
                    <a:pt x="4417796" y="15151"/>
                  </a:lnTo>
                  <a:lnTo>
                    <a:pt x="4372686" y="3060"/>
                  </a:lnTo>
                  <a:lnTo>
                    <a:pt x="4341685" y="0"/>
                  </a:lnTo>
                  <a:lnTo>
                    <a:pt x="4333875" y="0"/>
                  </a:lnTo>
                  <a:lnTo>
                    <a:pt x="4326077" y="0"/>
                  </a:lnTo>
                  <a:lnTo>
                    <a:pt x="4279773" y="6108"/>
                  </a:lnTo>
                  <a:lnTo>
                    <a:pt x="4235551" y="21120"/>
                  </a:lnTo>
                  <a:lnTo>
                    <a:pt x="4195102" y="44475"/>
                  </a:lnTo>
                  <a:lnTo>
                    <a:pt x="4159986" y="75260"/>
                  </a:lnTo>
                  <a:lnTo>
                    <a:pt x="4131551" y="112318"/>
                  </a:lnTo>
                  <a:lnTo>
                    <a:pt x="4110901" y="154216"/>
                  </a:lnTo>
                  <a:lnTo>
                    <a:pt x="4098810" y="199326"/>
                  </a:lnTo>
                  <a:lnTo>
                    <a:pt x="4095750" y="230327"/>
                  </a:lnTo>
                  <a:lnTo>
                    <a:pt x="4095750" y="245935"/>
                  </a:lnTo>
                  <a:lnTo>
                    <a:pt x="4101858" y="292239"/>
                  </a:lnTo>
                  <a:lnTo>
                    <a:pt x="4116870" y="336461"/>
                  </a:lnTo>
                  <a:lnTo>
                    <a:pt x="4140225" y="376910"/>
                  </a:lnTo>
                  <a:lnTo>
                    <a:pt x="4171010" y="412026"/>
                  </a:lnTo>
                  <a:lnTo>
                    <a:pt x="4208068" y="440461"/>
                  </a:lnTo>
                  <a:lnTo>
                    <a:pt x="4249966" y="461111"/>
                  </a:lnTo>
                  <a:lnTo>
                    <a:pt x="4295076" y="473202"/>
                  </a:lnTo>
                  <a:lnTo>
                    <a:pt x="4326077" y="476250"/>
                  </a:lnTo>
                  <a:lnTo>
                    <a:pt x="4341685" y="476250"/>
                  </a:lnTo>
                  <a:lnTo>
                    <a:pt x="4387989" y="470154"/>
                  </a:lnTo>
                  <a:lnTo>
                    <a:pt x="4432211" y="455142"/>
                  </a:lnTo>
                  <a:lnTo>
                    <a:pt x="4472660" y="431787"/>
                  </a:lnTo>
                  <a:lnTo>
                    <a:pt x="4507776" y="401002"/>
                  </a:lnTo>
                  <a:lnTo>
                    <a:pt x="4536211" y="363943"/>
                  </a:lnTo>
                  <a:lnTo>
                    <a:pt x="4556861" y="322046"/>
                  </a:lnTo>
                  <a:lnTo>
                    <a:pt x="4568952" y="276936"/>
                  </a:lnTo>
                  <a:lnTo>
                    <a:pt x="4572000" y="245935"/>
                  </a:lnTo>
                  <a:lnTo>
                    <a:pt x="4572000" y="230327"/>
                  </a:lnTo>
                  <a:close/>
                </a:path>
                <a:path w="8667750" h="476250">
                  <a:moveTo>
                    <a:pt x="8667750" y="230327"/>
                  </a:moveTo>
                  <a:lnTo>
                    <a:pt x="8661654" y="184023"/>
                  </a:lnTo>
                  <a:lnTo>
                    <a:pt x="8646643" y="139801"/>
                  </a:lnTo>
                  <a:lnTo>
                    <a:pt x="8623287" y="99352"/>
                  </a:lnTo>
                  <a:lnTo>
                    <a:pt x="8592490" y="64236"/>
                  </a:lnTo>
                  <a:lnTo>
                    <a:pt x="8555444" y="35801"/>
                  </a:lnTo>
                  <a:lnTo>
                    <a:pt x="8513547" y="15151"/>
                  </a:lnTo>
                  <a:lnTo>
                    <a:pt x="8468436" y="3060"/>
                  </a:lnTo>
                  <a:lnTo>
                    <a:pt x="8437435" y="0"/>
                  </a:lnTo>
                  <a:lnTo>
                    <a:pt x="8429625" y="0"/>
                  </a:lnTo>
                  <a:lnTo>
                    <a:pt x="8421827" y="0"/>
                  </a:lnTo>
                  <a:lnTo>
                    <a:pt x="8375523" y="6108"/>
                  </a:lnTo>
                  <a:lnTo>
                    <a:pt x="8331301" y="21120"/>
                  </a:lnTo>
                  <a:lnTo>
                    <a:pt x="8290852" y="44475"/>
                  </a:lnTo>
                  <a:lnTo>
                    <a:pt x="8255736" y="75260"/>
                  </a:lnTo>
                  <a:lnTo>
                    <a:pt x="8227301" y="112318"/>
                  </a:lnTo>
                  <a:lnTo>
                    <a:pt x="8206651" y="154216"/>
                  </a:lnTo>
                  <a:lnTo>
                    <a:pt x="8194561" y="199326"/>
                  </a:lnTo>
                  <a:lnTo>
                    <a:pt x="8191500" y="230327"/>
                  </a:lnTo>
                  <a:lnTo>
                    <a:pt x="8191500" y="245935"/>
                  </a:lnTo>
                  <a:lnTo>
                    <a:pt x="8197609" y="292239"/>
                  </a:lnTo>
                  <a:lnTo>
                    <a:pt x="8212620" y="336461"/>
                  </a:lnTo>
                  <a:lnTo>
                    <a:pt x="8235975" y="376910"/>
                  </a:lnTo>
                  <a:lnTo>
                    <a:pt x="8266760" y="412026"/>
                  </a:lnTo>
                  <a:lnTo>
                    <a:pt x="8303819" y="440461"/>
                  </a:lnTo>
                  <a:lnTo>
                    <a:pt x="8345703" y="461111"/>
                  </a:lnTo>
                  <a:lnTo>
                    <a:pt x="8390826" y="473202"/>
                  </a:lnTo>
                  <a:lnTo>
                    <a:pt x="8421827" y="476250"/>
                  </a:lnTo>
                  <a:lnTo>
                    <a:pt x="8437435" y="476250"/>
                  </a:lnTo>
                  <a:lnTo>
                    <a:pt x="8483740" y="470154"/>
                  </a:lnTo>
                  <a:lnTo>
                    <a:pt x="8527961" y="455142"/>
                  </a:lnTo>
                  <a:lnTo>
                    <a:pt x="8568411" y="431787"/>
                  </a:lnTo>
                  <a:lnTo>
                    <a:pt x="8603526" y="401002"/>
                  </a:lnTo>
                  <a:lnTo>
                    <a:pt x="8631961" y="363943"/>
                  </a:lnTo>
                  <a:lnTo>
                    <a:pt x="8652612" y="322046"/>
                  </a:lnTo>
                  <a:lnTo>
                    <a:pt x="8664702" y="276936"/>
                  </a:lnTo>
                  <a:lnTo>
                    <a:pt x="8667750" y="245935"/>
                  </a:lnTo>
                  <a:lnTo>
                    <a:pt x="8667750" y="230327"/>
                  </a:lnTo>
                  <a:close/>
                </a:path>
              </a:pathLst>
            </a:custGeom>
            <a:solidFill>
              <a:srgbClr val="D9B44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13811249" y="4333875"/>
              <a:ext cx="476250" cy="476250"/>
            </a:xfrm>
            <a:custGeom>
              <a:avLst/>
              <a:gdLst/>
              <a:ahLst/>
              <a:cxnLst/>
              <a:rect l="l" t="t" r="r" b="b"/>
              <a:pathLst>
                <a:path w="476250" h="476250">
                  <a:moveTo>
                    <a:pt x="245923" y="476249"/>
                  </a:moveTo>
                  <a:lnTo>
                    <a:pt x="230326" y="476249"/>
                  </a:lnTo>
                  <a:lnTo>
                    <a:pt x="222545" y="475867"/>
                  </a:lnTo>
                  <a:lnTo>
                    <a:pt x="184020" y="470152"/>
                  </a:lnTo>
                  <a:lnTo>
                    <a:pt x="139793" y="455139"/>
                  </a:lnTo>
                  <a:lnTo>
                    <a:pt x="99345" y="431785"/>
                  </a:lnTo>
                  <a:lnTo>
                    <a:pt x="64230" y="400990"/>
                  </a:lnTo>
                  <a:lnTo>
                    <a:pt x="35798" y="363935"/>
                  </a:lnTo>
                  <a:lnTo>
                    <a:pt x="15141" y="322046"/>
                  </a:lnTo>
                  <a:lnTo>
                    <a:pt x="3054" y="276931"/>
                  </a:lnTo>
                  <a:lnTo>
                    <a:pt x="0" y="245923"/>
                  </a:lnTo>
                  <a:lnTo>
                    <a:pt x="0" y="230326"/>
                  </a:lnTo>
                  <a:lnTo>
                    <a:pt x="6096" y="184020"/>
                  </a:lnTo>
                  <a:lnTo>
                    <a:pt x="21110" y="139793"/>
                  </a:lnTo>
                  <a:lnTo>
                    <a:pt x="44464" y="99345"/>
                  </a:lnTo>
                  <a:lnTo>
                    <a:pt x="75259" y="64230"/>
                  </a:lnTo>
                  <a:lnTo>
                    <a:pt x="112314" y="35798"/>
                  </a:lnTo>
                  <a:lnTo>
                    <a:pt x="154203" y="15141"/>
                  </a:lnTo>
                  <a:lnTo>
                    <a:pt x="199318" y="3054"/>
                  </a:lnTo>
                  <a:lnTo>
                    <a:pt x="230326" y="0"/>
                  </a:lnTo>
                  <a:lnTo>
                    <a:pt x="238124" y="0"/>
                  </a:lnTo>
                  <a:lnTo>
                    <a:pt x="245923" y="0"/>
                  </a:lnTo>
                  <a:lnTo>
                    <a:pt x="292229" y="6096"/>
                  </a:lnTo>
                  <a:lnTo>
                    <a:pt x="336456" y="21110"/>
                  </a:lnTo>
                  <a:lnTo>
                    <a:pt x="376904" y="44464"/>
                  </a:lnTo>
                  <a:lnTo>
                    <a:pt x="412019" y="75259"/>
                  </a:lnTo>
                  <a:lnTo>
                    <a:pt x="440451" y="112314"/>
                  </a:lnTo>
                  <a:lnTo>
                    <a:pt x="461108" y="154203"/>
                  </a:lnTo>
                  <a:lnTo>
                    <a:pt x="473195" y="199318"/>
                  </a:lnTo>
                  <a:lnTo>
                    <a:pt x="476249" y="230326"/>
                  </a:lnTo>
                  <a:lnTo>
                    <a:pt x="476249" y="245923"/>
                  </a:lnTo>
                  <a:lnTo>
                    <a:pt x="470152" y="292229"/>
                  </a:lnTo>
                  <a:lnTo>
                    <a:pt x="455139" y="336456"/>
                  </a:lnTo>
                  <a:lnTo>
                    <a:pt x="431785" y="376904"/>
                  </a:lnTo>
                  <a:lnTo>
                    <a:pt x="400990" y="412019"/>
                  </a:lnTo>
                  <a:lnTo>
                    <a:pt x="363935" y="440451"/>
                  </a:lnTo>
                  <a:lnTo>
                    <a:pt x="322046" y="461108"/>
                  </a:lnTo>
                  <a:lnTo>
                    <a:pt x="276931" y="473195"/>
                  </a:lnTo>
                  <a:lnTo>
                    <a:pt x="253703" y="475867"/>
                  </a:lnTo>
                  <a:lnTo>
                    <a:pt x="245923" y="476249"/>
                  </a:lnTo>
                  <a:close/>
                </a:path>
              </a:pathLst>
            </a:custGeom>
            <a:solidFill>
              <a:srgbClr val="163A2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1511299" y="5131991"/>
            <a:ext cx="3280410" cy="226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650" b="1" spc="-590" dirty="0">
                <a:solidFill>
                  <a:srgbClr val="163A26"/>
                </a:solidFill>
                <a:latin typeface="Tahoma"/>
                <a:cs typeface="Tahoma"/>
              </a:rPr>
              <a:t>Now</a:t>
            </a:r>
            <a:endParaRPr sz="4650">
              <a:latin typeface="Tahoma"/>
              <a:cs typeface="Tahoma"/>
            </a:endParaRPr>
          </a:p>
          <a:p>
            <a:pPr marL="12700" marR="5080">
              <a:lnSpc>
                <a:spcPct val="111000"/>
              </a:lnSpc>
              <a:spcBef>
                <a:spcPts val="2295"/>
              </a:spcBef>
            </a:pPr>
            <a:r>
              <a:rPr sz="2450" spc="-155" dirty="0">
                <a:solidFill>
                  <a:srgbClr val="2E3B33"/>
                </a:solidFill>
                <a:latin typeface="Arial"/>
                <a:cs typeface="Arial"/>
              </a:rPr>
              <a:t>Refine</a:t>
            </a:r>
            <a:r>
              <a:rPr sz="2450" spc="-8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75" dirty="0">
                <a:solidFill>
                  <a:srgbClr val="2E3B33"/>
                </a:solidFill>
                <a:latin typeface="Arial"/>
                <a:cs typeface="Arial"/>
              </a:rPr>
              <a:t>problem,</a:t>
            </a:r>
            <a:r>
              <a:rPr sz="2450" spc="-12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45" dirty="0">
                <a:solidFill>
                  <a:srgbClr val="2E3B33"/>
                </a:solidFill>
                <a:latin typeface="Arial"/>
                <a:cs typeface="Arial"/>
              </a:rPr>
              <a:t>interview </a:t>
            </a:r>
            <a:r>
              <a:rPr sz="2450" spc="-140" dirty="0">
                <a:solidFill>
                  <a:srgbClr val="2E3B33"/>
                </a:solidFill>
                <a:latin typeface="Arial"/>
                <a:cs typeface="Arial"/>
              </a:rPr>
              <a:t>users, </a:t>
            </a:r>
            <a:r>
              <a:rPr sz="2450" spc="-100" dirty="0">
                <a:solidFill>
                  <a:srgbClr val="2E3B33"/>
                </a:solidFill>
                <a:latin typeface="Arial"/>
                <a:cs typeface="Arial"/>
              </a:rPr>
              <a:t>and</a:t>
            </a:r>
            <a:r>
              <a:rPr sz="2450" spc="-8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65" dirty="0">
                <a:solidFill>
                  <a:srgbClr val="2E3B33"/>
                </a:solidFill>
                <a:latin typeface="Arial"/>
                <a:cs typeface="Arial"/>
              </a:rPr>
              <a:t>validate</a:t>
            </a:r>
            <a:r>
              <a:rPr sz="2450" spc="-10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2E3B33"/>
                </a:solidFill>
                <a:latin typeface="Arial"/>
                <a:cs typeface="Arial"/>
              </a:rPr>
              <a:t>input </a:t>
            </a:r>
            <a:r>
              <a:rPr sz="2450" spc="-10" dirty="0">
                <a:solidFill>
                  <a:srgbClr val="2E3B33"/>
                </a:solidFill>
                <a:latin typeface="Arial"/>
                <a:cs typeface="Arial"/>
              </a:rPr>
              <a:t>needs.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607049" y="5131991"/>
            <a:ext cx="2734945" cy="226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650" b="1" spc="-520" dirty="0">
                <a:solidFill>
                  <a:srgbClr val="163A26"/>
                </a:solidFill>
                <a:latin typeface="Tahoma"/>
                <a:cs typeface="Tahoma"/>
              </a:rPr>
              <a:t>Next</a:t>
            </a:r>
            <a:endParaRPr sz="4650">
              <a:latin typeface="Tahoma"/>
              <a:cs typeface="Tahoma"/>
            </a:endParaRPr>
          </a:p>
          <a:p>
            <a:pPr marL="12700" marR="5080" algn="just">
              <a:lnSpc>
                <a:spcPct val="111000"/>
              </a:lnSpc>
              <a:spcBef>
                <a:spcPts val="2295"/>
              </a:spcBef>
            </a:pPr>
            <a:r>
              <a:rPr sz="2450" spc="-55" dirty="0">
                <a:solidFill>
                  <a:srgbClr val="2E3B33"/>
                </a:solidFill>
                <a:latin typeface="Arial"/>
                <a:cs typeface="Arial"/>
              </a:rPr>
              <a:t>Connect</a:t>
            </a:r>
            <a:r>
              <a:rPr sz="2450" spc="-11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dirty="0">
                <a:solidFill>
                  <a:srgbClr val="2E3B33"/>
                </a:solidFill>
                <a:latin typeface="Arial"/>
                <a:cs typeface="Arial"/>
              </a:rPr>
              <a:t>trusted</a:t>
            </a:r>
            <a:r>
              <a:rPr sz="2450" spc="-114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90" dirty="0">
                <a:solidFill>
                  <a:srgbClr val="2E3B33"/>
                </a:solidFill>
                <a:latin typeface="Arial"/>
                <a:cs typeface="Arial"/>
              </a:rPr>
              <a:t>soil, </a:t>
            </a:r>
            <a:r>
              <a:rPr sz="2450" spc="-130" dirty="0">
                <a:solidFill>
                  <a:srgbClr val="2E3B33"/>
                </a:solidFill>
                <a:latin typeface="Arial"/>
                <a:cs typeface="Arial"/>
              </a:rPr>
              <a:t>weather,</a:t>
            </a:r>
            <a:r>
              <a:rPr sz="2450" spc="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170" dirty="0">
                <a:solidFill>
                  <a:srgbClr val="2E3B33"/>
                </a:solidFill>
                <a:latin typeface="Arial"/>
                <a:cs typeface="Arial"/>
              </a:rPr>
              <a:t>season,</a:t>
            </a:r>
            <a:r>
              <a:rPr sz="245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25" dirty="0">
                <a:solidFill>
                  <a:srgbClr val="2E3B33"/>
                </a:solidFill>
                <a:latin typeface="Arial"/>
                <a:cs typeface="Arial"/>
              </a:rPr>
              <a:t>and </a:t>
            </a:r>
            <a:r>
              <a:rPr sz="2450" spc="-90" dirty="0">
                <a:solidFill>
                  <a:srgbClr val="2E3B33"/>
                </a:solidFill>
                <a:latin typeface="Arial"/>
                <a:cs typeface="Arial"/>
              </a:rPr>
              <a:t>market</a:t>
            </a:r>
            <a:r>
              <a:rPr sz="2450" spc="-5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2E3B33"/>
                </a:solidFill>
                <a:latin typeface="Arial"/>
                <a:cs typeface="Arial"/>
              </a:rPr>
              <a:t>data.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702799" y="5131991"/>
            <a:ext cx="3636010" cy="226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650" b="1" spc="-275" dirty="0">
                <a:solidFill>
                  <a:srgbClr val="163A26"/>
                </a:solidFill>
                <a:latin typeface="Tahoma"/>
                <a:cs typeface="Tahoma"/>
              </a:rPr>
              <a:t>Pilot</a:t>
            </a:r>
            <a:endParaRPr sz="4650">
              <a:latin typeface="Tahoma"/>
              <a:cs typeface="Tahoma"/>
            </a:endParaRPr>
          </a:p>
          <a:p>
            <a:pPr marL="12700" marR="5080">
              <a:lnSpc>
                <a:spcPct val="111000"/>
              </a:lnSpc>
              <a:spcBef>
                <a:spcPts val="2295"/>
              </a:spcBef>
            </a:pPr>
            <a:r>
              <a:rPr sz="2450" spc="-160" dirty="0">
                <a:solidFill>
                  <a:srgbClr val="2E3B33"/>
                </a:solidFill>
                <a:latin typeface="Arial"/>
                <a:cs typeface="Arial"/>
              </a:rPr>
              <a:t>Test</a:t>
            </a:r>
            <a:r>
              <a:rPr sz="2450" spc="-7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60" dirty="0">
                <a:solidFill>
                  <a:srgbClr val="2E3B33"/>
                </a:solidFill>
                <a:latin typeface="Arial"/>
                <a:cs typeface="Arial"/>
              </a:rPr>
              <a:t>recommendations</a:t>
            </a:r>
            <a:r>
              <a:rPr sz="2450" spc="-10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20" dirty="0">
                <a:solidFill>
                  <a:srgbClr val="2E3B33"/>
                </a:solidFill>
                <a:latin typeface="Arial"/>
                <a:cs typeface="Arial"/>
              </a:rPr>
              <a:t>with </a:t>
            </a:r>
            <a:r>
              <a:rPr sz="2450" spc="-80" dirty="0">
                <a:solidFill>
                  <a:srgbClr val="2E3B33"/>
                </a:solidFill>
                <a:latin typeface="Arial"/>
                <a:cs typeface="Arial"/>
              </a:rPr>
              <a:t>farmers</a:t>
            </a:r>
            <a:r>
              <a:rPr sz="2450" spc="-12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100" dirty="0">
                <a:solidFill>
                  <a:srgbClr val="2E3B33"/>
                </a:solidFill>
                <a:latin typeface="Arial"/>
                <a:cs typeface="Arial"/>
              </a:rPr>
              <a:t>and </a:t>
            </a:r>
            <a:r>
              <a:rPr sz="2450" spc="-10" dirty="0">
                <a:solidFill>
                  <a:srgbClr val="2E3B33"/>
                </a:solidFill>
                <a:latin typeface="Arial"/>
                <a:cs typeface="Arial"/>
              </a:rPr>
              <a:t>capture feedback.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798550" y="5131991"/>
            <a:ext cx="3361054" cy="2268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4650" b="1" spc="-440" dirty="0">
                <a:solidFill>
                  <a:srgbClr val="163A26"/>
                </a:solidFill>
                <a:latin typeface="Tahoma"/>
                <a:cs typeface="Tahoma"/>
              </a:rPr>
              <a:t>Scale</a:t>
            </a:r>
            <a:endParaRPr sz="4650">
              <a:latin typeface="Tahoma"/>
              <a:cs typeface="Tahoma"/>
            </a:endParaRPr>
          </a:p>
          <a:p>
            <a:pPr marL="12700" marR="5080">
              <a:lnSpc>
                <a:spcPct val="111000"/>
              </a:lnSpc>
              <a:spcBef>
                <a:spcPts val="2295"/>
              </a:spcBef>
            </a:pPr>
            <a:r>
              <a:rPr sz="2450" spc="-95" dirty="0">
                <a:solidFill>
                  <a:srgbClr val="2E3B33"/>
                </a:solidFill>
                <a:latin typeface="Arial"/>
                <a:cs typeface="Arial"/>
              </a:rPr>
              <a:t>Improve</a:t>
            </a:r>
            <a:r>
              <a:rPr sz="2450" spc="-100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10" dirty="0">
                <a:solidFill>
                  <a:srgbClr val="2E3B33"/>
                </a:solidFill>
                <a:latin typeface="Arial"/>
                <a:cs typeface="Arial"/>
              </a:rPr>
              <a:t>explainability, </a:t>
            </a:r>
            <a:r>
              <a:rPr sz="2450" spc="-80" dirty="0">
                <a:solidFill>
                  <a:srgbClr val="2E3B33"/>
                </a:solidFill>
                <a:latin typeface="Arial"/>
                <a:cs typeface="Arial"/>
              </a:rPr>
              <a:t>partnerships,</a:t>
            </a:r>
            <a:r>
              <a:rPr sz="2450" spc="-100" dirty="0">
                <a:solidFill>
                  <a:srgbClr val="2E3B33"/>
                </a:solidFill>
                <a:latin typeface="Arial"/>
                <a:cs typeface="Arial"/>
              </a:rPr>
              <a:t> and</a:t>
            </a:r>
            <a:r>
              <a:rPr sz="2450" spc="-45" dirty="0">
                <a:solidFill>
                  <a:srgbClr val="2E3B33"/>
                </a:solidFill>
                <a:latin typeface="Arial"/>
                <a:cs typeface="Arial"/>
              </a:rPr>
              <a:t> </a:t>
            </a:r>
            <a:r>
              <a:rPr sz="2450" spc="-85" dirty="0">
                <a:solidFill>
                  <a:srgbClr val="2E3B33"/>
                </a:solidFill>
                <a:latin typeface="Arial"/>
                <a:cs typeface="Arial"/>
              </a:rPr>
              <a:t>regional </a:t>
            </a:r>
            <a:r>
              <a:rPr sz="2450" spc="-20" dirty="0">
                <a:solidFill>
                  <a:srgbClr val="2E3B33"/>
                </a:solidFill>
                <a:latin typeface="Arial"/>
                <a:cs typeface="Arial"/>
              </a:rPr>
              <a:t>coverage.</a:t>
            </a:r>
            <a:endParaRPr sz="245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20"/>
              </a:lnSpc>
              <a:tabLst>
                <a:tab pos="635635" algn="l"/>
              </a:tabLst>
            </a:pPr>
            <a:r>
              <a:rPr spc="-280" dirty="0"/>
              <a:t>DTIE</a:t>
            </a:r>
            <a:r>
              <a:rPr dirty="0"/>
              <a:t>	|</a:t>
            </a:r>
            <a:r>
              <a:rPr spc="405" dirty="0"/>
              <a:t> </a:t>
            </a:r>
            <a:r>
              <a:rPr spc="-60" dirty="0"/>
              <a:t>Department</a:t>
            </a:r>
            <a:r>
              <a:rPr spc="-125" dirty="0"/>
              <a:t> </a:t>
            </a:r>
            <a:r>
              <a:rPr dirty="0"/>
              <a:t>of</a:t>
            </a:r>
            <a:r>
              <a:rPr spc="-95" dirty="0"/>
              <a:t> </a:t>
            </a:r>
            <a:r>
              <a:rPr spc="-45" dirty="0"/>
              <a:t>Multi</a:t>
            </a:r>
            <a:r>
              <a:rPr spc="-125" dirty="0"/>
              <a:t> </a:t>
            </a:r>
            <a:r>
              <a:rPr spc="-80" dirty="0"/>
              <a:t>Disciplinary</a:t>
            </a:r>
            <a:r>
              <a:rPr spc="-145" dirty="0"/>
              <a:t> </a:t>
            </a:r>
            <a:r>
              <a:rPr spc="-100" dirty="0"/>
              <a:t>Innovation </a:t>
            </a:r>
            <a:r>
              <a:rPr dirty="0"/>
              <a:t>&amp;</a:t>
            </a:r>
            <a:r>
              <a:rPr spc="-114" dirty="0"/>
              <a:t> </a:t>
            </a:r>
            <a:r>
              <a:rPr spc="-45" dirty="0"/>
              <a:t>Entrepreneurship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8" cy="10286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6857999" cy="10286999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7797800" y="1310665"/>
            <a:ext cx="2022475" cy="3924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400" b="1" dirty="0">
                <a:solidFill>
                  <a:srgbClr val="D9B44A"/>
                </a:solidFill>
                <a:latin typeface="Arial"/>
                <a:cs typeface="Arial"/>
              </a:rPr>
              <a:t>IN</a:t>
            </a:r>
            <a:r>
              <a:rPr sz="2400" b="1" spc="229" dirty="0">
                <a:solidFill>
                  <a:srgbClr val="D9B44A"/>
                </a:solidFill>
                <a:latin typeface="Arial"/>
                <a:cs typeface="Arial"/>
              </a:rPr>
              <a:t> </a:t>
            </a:r>
            <a:r>
              <a:rPr sz="2400" b="1" spc="-10" dirty="0">
                <a:solidFill>
                  <a:srgbClr val="D9B44A"/>
                </a:solidFill>
                <a:latin typeface="Arial"/>
                <a:cs typeface="Arial"/>
              </a:rPr>
              <a:t>SUMMARY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7797800" y="1750954"/>
            <a:ext cx="6854825" cy="2542540"/>
          </a:xfrm>
          <a:prstGeom prst="rect">
            <a:avLst/>
          </a:prstGeom>
        </p:spPr>
        <p:txBody>
          <a:bodyPr vert="horz" wrap="square" lIns="0" tIns="158750" rIns="0" bIns="0" rtlCol="0">
            <a:spAutoFit/>
          </a:bodyPr>
          <a:lstStyle/>
          <a:p>
            <a:pPr marL="12700" marR="5080">
              <a:lnSpc>
                <a:spcPts val="6230"/>
              </a:lnSpc>
              <a:spcBef>
                <a:spcPts val="1250"/>
              </a:spcBef>
            </a:pPr>
            <a:r>
              <a:rPr spc="-720" dirty="0">
                <a:solidFill>
                  <a:srgbClr val="F4EFE3"/>
                </a:solidFill>
              </a:rPr>
              <a:t>A</a:t>
            </a:r>
            <a:r>
              <a:rPr spc="-780" dirty="0">
                <a:solidFill>
                  <a:srgbClr val="F4EFE3"/>
                </a:solidFill>
              </a:rPr>
              <a:t>I</a:t>
            </a:r>
            <a:r>
              <a:rPr spc="-250" dirty="0">
                <a:solidFill>
                  <a:srgbClr val="F4EFE3"/>
                </a:solidFill>
              </a:rPr>
              <a:t>-</a:t>
            </a:r>
            <a:r>
              <a:rPr spc="-670" dirty="0">
                <a:solidFill>
                  <a:srgbClr val="F4EFE3"/>
                </a:solidFill>
              </a:rPr>
              <a:t>Based</a:t>
            </a:r>
            <a:r>
              <a:rPr spc="-745" dirty="0">
                <a:solidFill>
                  <a:srgbClr val="F4EFE3"/>
                </a:solidFill>
              </a:rPr>
              <a:t> </a:t>
            </a:r>
            <a:r>
              <a:rPr spc="-465" dirty="0">
                <a:solidFill>
                  <a:srgbClr val="F4EFE3"/>
                </a:solidFill>
              </a:rPr>
              <a:t>Crop </a:t>
            </a:r>
            <a:r>
              <a:rPr spc="-640" dirty="0">
                <a:solidFill>
                  <a:srgbClr val="F4EFE3"/>
                </a:solidFill>
              </a:rPr>
              <a:t>Recommendation</a:t>
            </a:r>
            <a:r>
              <a:rPr spc="-775" dirty="0">
                <a:solidFill>
                  <a:srgbClr val="F4EFE3"/>
                </a:solidFill>
              </a:rPr>
              <a:t> </a:t>
            </a:r>
            <a:r>
              <a:rPr spc="-395" dirty="0">
                <a:solidFill>
                  <a:srgbClr val="F4EFE3"/>
                </a:solidFill>
              </a:rPr>
              <a:t>for </a:t>
            </a:r>
            <a:r>
              <a:rPr spc="-645" dirty="0">
                <a:solidFill>
                  <a:srgbClr val="F4EFE3"/>
                </a:solidFill>
              </a:rPr>
              <a:t>Farmers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7797800" y="4697257"/>
            <a:ext cx="8642985" cy="1435100"/>
          </a:xfrm>
          <a:prstGeom prst="rect">
            <a:avLst/>
          </a:prstGeom>
        </p:spPr>
        <p:txBody>
          <a:bodyPr vert="horz" wrap="square" lIns="0" tIns="52069" rIns="0" bIns="0" rtlCol="0">
            <a:spAutoFit/>
          </a:bodyPr>
          <a:lstStyle/>
          <a:p>
            <a:pPr marL="450215" indent="-437515">
              <a:lnSpc>
                <a:spcPct val="100000"/>
              </a:lnSpc>
              <a:spcBef>
                <a:spcPts val="409"/>
              </a:spcBef>
              <a:buClr>
                <a:srgbClr val="B5832A"/>
              </a:buClr>
              <a:buChar char="•"/>
              <a:tabLst>
                <a:tab pos="450215" algn="l"/>
              </a:tabLst>
            </a:pPr>
            <a:r>
              <a:rPr sz="2800" spc="-185" dirty="0">
                <a:solidFill>
                  <a:srgbClr val="C9D6CC"/>
                </a:solidFill>
                <a:latin typeface="Arial"/>
                <a:cs typeface="Arial"/>
              </a:rPr>
              <a:t>Turn</a:t>
            </a:r>
            <a:r>
              <a:rPr sz="2800" spc="-11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C9D6CC"/>
                </a:solidFill>
                <a:latin typeface="Arial"/>
                <a:cs typeface="Arial"/>
              </a:rPr>
              <a:t>local</a:t>
            </a:r>
            <a:r>
              <a:rPr sz="2800" spc="-110" dirty="0">
                <a:solidFill>
                  <a:srgbClr val="C9D6CC"/>
                </a:solidFill>
                <a:latin typeface="Arial"/>
                <a:cs typeface="Arial"/>
              </a:rPr>
              <a:t> growing</a:t>
            </a:r>
            <a:r>
              <a:rPr sz="2800" spc="-14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C9D6CC"/>
                </a:solidFill>
                <a:latin typeface="Arial"/>
                <a:cs typeface="Arial"/>
              </a:rPr>
              <a:t>conditions</a:t>
            </a:r>
            <a:r>
              <a:rPr sz="2800" spc="-14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C9D6CC"/>
                </a:solidFill>
                <a:latin typeface="Arial"/>
                <a:cs typeface="Arial"/>
              </a:rPr>
              <a:t>into</a:t>
            </a:r>
            <a:r>
              <a:rPr sz="28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80" dirty="0">
                <a:solidFill>
                  <a:srgbClr val="C9D6CC"/>
                </a:solidFill>
                <a:latin typeface="Arial"/>
                <a:cs typeface="Arial"/>
              </a:rPr>
              <a:t>a</a:t>
            </a:r>
            <a:r>
              <a:rPr sz="2800" spc="-10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C9D6CC"/>
                </a:solidFill>
                <a:latin typeface="Arial"/>
                <a:cs typeface="Arial"/>
              </a:rPr>
              <a:t>clear</a:t>
            </a:r>
            <a:r>
              <a:rPr sz="2800" spc="-11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35" dirty="0">
                <a:solidFill>
                  <a:srgbClr val="C9D6CC"/>
                </a:solidFill>
                <a:latin typeface="Arial"/>
                <a:cs typeface="Arial"/>
              </a:rPr>
              <a:t>crop</a:t>
            </a:r>
            <a:r>
              <a:rPr sz="2800" spc="-16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C9D6CC"/>
                </a:solidFill>
                <a:latin typeface="Arial"/>
                <a:cs typeface="Arial"/>
              </a:rPr>
              <a:t>shortlist.</a:t>
            </a:r>
            <a:endParaRPr sz="2800">
              <a:latin typeface="Arial"/>
              <a:cs typeface="Arial"/>
            </a:endParaRPr>
          </a:p>
          <a:p>
            <a:pPr marL="450215" indent="-437515">
              <a:lnSpc>
                <a:spcPct val="100000"/>
              </a:lnSpc>
              <a:spcBef>
                <a:spcPts val="315"/>
              </a:spcBef>
              <a:buClr>
                <a:srgbClr val="B5832A"/>
              </a:buClr>
              <a:buChar char="•"/>
              <a:tabLst>
                <a:tab pos="450215" algn="l"/>
              </a:tabLst>
            </a:pPr>
            <a:r>
              <a:rPr sz="2800" spc="-195" dirty="0">
                <a:solidFill>
                  <a:srgbClr val="C9D6CC"/>
                </a:solidFill>
                <a:latin typeface="Arial"/>
                <a:cs typeface="Arial"/>
              </a:rPr>
              <a:t>Keep</a:t>
            </a:r>
            <a:r>
              <a:rPr sz="2800" spc="-13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80" dirty="0">
                <a:solidFill>
                  <a:srgbClr val="C9D6CC"/>
                </a:solidFill>
                <a:latin typeface="Arial"/>
                <a:cs typeface="Arial"/>
              </a:rPr>
              <a:t>recommendations</a:t>
            </a:r>
            <a:r>
              <a:rPr sz="2800" spc="-11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C9D6CC"/>
                </a:solidFill>
                <a:latin typeface="Arial"/>
                <a:cs typeface="Arial"/>
              </a:rPr>
              <a:t>explainable</a:t>
            </a:r>
            <a:r>
              <a:rPr sz="2800" spc="-13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C9D6CC"/>
                </a:solidFill>
                <a:latin typeface="Arial"/>
                <a:cs typeface="Arial"/>
              </a:rPr>
              <a:t>and</a:t>
            </a:r>
            <a:r>
              <a:rPr sz="2800" spc="-13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C9D6CC"/>
                </a:solidFill>
                <a:latin typeface="Arial"/>
                <a:cs typeface="Arial"/>
              </a:rPr>
              <a:t>farmer-</a:t>
            </a:r>
            <a:r>
              <a:rPr sz="2800" spc="-20" dirty="0">
                <a:solidFill>
                  <a:srgbClr val="C9D6CC"/>
                </a:solidFill>
                <a:latin typeface="Arial"/>
                <a:cs typeface="Arial"/>
              </a:rPr>
              <a:t>led.</a:t>
            </a:r>
            <a:endParaRPr sz="2800">
              <a:latin typeface="Arial"/>
              <a:cs typeface="Arial"/>
            </a:endParaRPr>
          </a:p>
          <a:p>
            <a:pPr marL="450215" indent="-437515">
              <a:lnSpc>
                <a:spcPct val="100000"/>
              </a:lnSpc>
              <a:spcBef>
                <a:spcPts val="390"/>
              </a:spcBef>
              <a:buClr>
                <a:srgbClr val="B5832A"/>
              </a:buClr>
              <a:buChar char="•"/>
              <a:tabLst>
                <a:tab pos="450215" algn="l"/>
              </a:tabLst>
            </a:pPr>
            <a:r>
              <a:rPr sz="2800" spc="-95" dirty="0">
                <a:solidFill>
                  <a:srgbClr val="C9D6CC"/>
                </a:solidFill>
                <a:latin typeface="Arial"/>
                <a:cs typeface="Arial"/>
              </a:rPr>
              <a:t>Validate</a:t>
            </a:r>
            <a:r>
              <a:rPr sz="2800" spc="-16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20" dirty="0">
                <a:solidFill>
                  <a:srgbClr val="C9D6CC"/>
                </a:solidFill>
                <a:latin typeface="Arial"/>
                <a:cs typeface="Arial"/>
              </a:rPr>
              <a:t>the</a:t>
            </a:r>
            <a:r>
              <a:rPr sz="28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5" dirty="0">
                <a:solidFill>
                  <a:srgbClr val="C9D6CC"/>
                </a:solidFill>
                <a:latin typeface="Arial"/>
                <a:cs typeface="Arial"/>
              </a:rPr>
              <a:t>idea</a:t>
            </a:r>
            <a:r>
              <a:rPr sz="2800" spc="-9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" dirty="0">
                <a:solidFill>
                  <a:srgbClr val="C9D6CC"/>
                </a:solidFill>
                <a:latin typeface="Arial"/>
                <a:cs typeface="Arial"/>
              </a:rPr>
              <a:t>with</a:t>
            </a:r>
            <a:r>
              <a:rPr sz="2800" spc="-10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75" dirty="0">
                <a:solidFill>
                  <a:srgbClr val="C9D6CC"/>
                </a:solidFill>
                <a:latin typeface="Arial"/>
                <a:cs typeface="Arial"/>
              </a:rPr>
              <a:t>local</a:t>
            </a:r>
            <a:r>
              <a:rPr sz="2800" spc="-10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14" dirty="0">
                <a:solidFill>
                  <a:srgbClr val="C9D6CC"/>
                </a:solidFill>
                <a:latin typeface="Arial"/>
                <a:cs typeface="Arial"/>
              </a:rPr>
              <a:t>research</a:t>
            </a:r>
            <a:r>
              <a:rPr sz="2800" spc="-10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70" dirty="0">
                <a:solidFill>
                  <a:srgbClr val="C9D6CC"/>
                </a:solidFill>
                <a:latin typeface="Arial"/>
                <a:cs typeface="Arial"/>
              </a:rPr>
              <a:t>and</a:t>
            </a:r>
            <a:r>
              <a:rPr sz="2800" spc="-155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30" dirty="0">
                <a:solidFill>
                  <a:srgbClr val="C9D6CC"/>
                </a:solidFill>
                <a:latin typeface="Arial"/>
                <a:cs typeface="Arial"/>
              </a:rPr>
              <a:t>field</a:t>
            </a:r>
            <a:r>
              <a:rPr sz="2800" spc="-160" dirty="0">
                <a:solidFill>
                  <a:srgbClr val="C9D6CC"/>
                </a:solidFill>
                <a:latin typeface="Arial"/>
                <a:cs typeface="Arial"/>
              </a:rPr>
              <a:t> </a:t>
            </a:r>
            <a:r>
              <a:rPr sz="2800" spc="-100" dirty="0">
                <a:solidFill>
                  <a:srgbClr val="C9D6CC"/>
                </a:solidFill>
                <a:latin typeface="Arial"/>
                <a:cs typeface="Arial"/>
              </a:rPr>
              <a:t>feedback.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810500" y="8191500"/>
            <a:ext cx="6667500" cy="857250"/>
          </a:xfrm>
          <a:custGeom>
            <a:avLst/>
            <a:gdLst/>
            <a:ahLst/>
            <a:cxnLst/>
            <a:rect l="l" t="t" r="r" b="b"/>
            <a:pathLst>
              <a:path w="6667500" h="857250">
                <a:moveTo>
                  <a:pt x="6238874" y="857249"/>
                </a:moveTo>
                <a:lnTo>
                  <a:pt x="428624" y="857249"/>
                </a:lnTo>
                <a:lnTo>
                  <a:pt x="418102" y="857120"/>
                </a:lnTo>
                <a:lnTo>
                  <a:pt x="376153" y="854026"/>
                </a:lnTo>
                <a:lnTo>
                  <a:pt x="334709" y="846834"/>
                </a:lnTo>
                <a:lnTo>
                  <a:pt x="294170" y="835615"/>
                </a:lnTo>
                <a:lnTo>
                  <a:pt x="254925" y="820476"/>
                </a:lnTo>
                <a:lnTo>
                  <a:pt x="217353" y="801564"/>
                </a:lnTo>
                <a:lnTo>
                  <a:pt x="181816" y="779060"/>
                </a:lnTo>
                <a:lnTo>
                  <a:pt x="148656" y="753181"/>
                </a:lnTo>
                <a:lnTo>
                  <a:pt x="118192" y="724177"/>
                </a:lnTo>
                <a:lnTo>
                  <a:pt x="90717" y="692326"/>
                </a:lnTo>
                <a:lnTo>
                  <a:pt x="66497" y="657935"/>
                </a:lnTo>
                <a:lnTo>
                  <a:pt x="45765" y="621336"/>
                </a:lnTo>
                <a:lnTo>
                  <a:pt x="28719" y="582882"/>
                </a:lnTo>
                <a:lnTo>
                  <a:pt x="15525" y="542941"/>
                </a:lnTo>
                <a:lnTo>
                  <a:pt x="6309" y="501900"/>
                </a:lnTo>
                <a:lnTo>
                  <a:pt x="1160" y="460153"/>
                </a:lnTo>
                <a:lnTo>
                  <a:pt x="0" y="428624"/>
                </a:lnTo>
                <a:lnTo>
                  <a:pt x="128" y="418102"/>
                </a:lnTo>
                <a:lnTo>
                  <a:pt x="3223" y="376153"/>
                </a:lnTo>
                <a:lnTo>
                  <a:pt x="10415" y="334709"/>
                </a:lnTo>
                <a:lnTo>
                  <a:pt x="21634" y="294170"/>
                </a:lnTo>
                <a:lnTo>
                  <a:pt x="36772" y="254925"/>
                </a:lnTo>
                <a:lnTo>
                  <a:pt x="55685" y="217353"/>
                </a:lnTo>
                <a:lnTo>
                  <a:pt x="78189" y="181816"/>
                </a:lnTo>
                <a:lnTo>
                  <a:pt x="104068" y="148656"/>
                </a:lnTo>
                <a:lnTo>
                  <a:pt x="133072" y="118192"/>
                </a:lnTo>
                <a:lnTo>
                  <a:pt x="164923" y="90717"/>
                </a:lnTo>
                <a:lnTo>
                  <a:pt x="199314" y="66497"/>
                </a:lnTo>
                <a:lnTo>
                  <a:pt x="235913" y="45765"/>
                </a:lnTo>
                <a:lnTo>
                  <a:pt x="274367" y="28719"/>
                </a:lnTo>
                <a:lnTo>
                  <a:pt x="314308" y="15525"/>
                </a:lnTo>
                <a:lnTo>
                  <a:pt x="355349" y="6309"/>
                </a:lnTo>
                <a:lnTo>
                  <a:pt x="397096" y="1160"/>
                </a:lnTo>
                <a:lnTo>
                  <a:pt x="428624" y="0"/>
                </a:lnTo>
                <a:lnTo>
                  <a:pt x="6238874" y="0"/>
                </a:lnTo>
                <a:lnTo>
                  <a:pt x="6280887" y="2063"/>
                </a:lnTo>
                <a:lnTo>
                  <a:pt x="6322494" y="8235"/>
                </a:lnTo>
                <a:lnTo>
                  <a:pt x="6363297" y="18456"/>
                </a:lnTo>
                <a:lnTo>
                  <a:pt x="6402901" y="32627"/>
                </a:lnTo>
                <a:lnTo>
                  <a:pt x="6440926" y="50611"/>
                </a:lnTo>
                <a:lnTo>
                  <a:pt x="6477005" y="72236"/>
                </a:lnTo>
                <a:lnTo>
                  <a:pt x="6510791" y="97293"/>
                </a:lnTo>
                <a:lnTo>
                  <a:pt x="6541957" y="125541"/>
                </a:lnTo>
                <a:lnTo>
                  <a:pt x="6570205" y="156708"/>
                </a:lnTo>
                <a:lnTo>
                  <a:pt x="6595262" y="190493"/>
                </a:lnTo>
                <a:lnTo>
                  <a:pt x="6616886" y="226572"/>
                </a:lnTo>
                <a:lnTo>
                  <a:pt x="6634871" y="264597"/>
                </a:lnTo>
                <a:lnTo>
                  <a:pt x="6649041" y="304201"/>
                </a:lnTo>
                <a:lnTo>
                  <a:pt x="6659263" y="345004"/>
                </a:lnTo>
                <a:lnTo>
                  <a:pt x="6665435" y="386612"/>
                </a:lnTo>
                <a:lnTo>
                  <a:pt x="6667499" y="428624"/>
                </a:lnTo>
                <a:lnTo>
                  <a:pt x="6667370" y="439147"/>
                </a:lnTo>
                <a:lnTo>
                  <a:pt x="6664275" y="481096"/>
                </a:lnTo>
                <a:lnTo>
                  <a:pt x="6657083" y="522540"/>
                </a:lnTo>
                <a:lnTo>
                  <a:pt x="6645864" y="563079"/>
                </a:lnTo>
                <a:lnTo>
                  <a:pt x="6630725" y="602324"/>
                </a:lnTo>
                <a:lnTo>
                  <a:pt x="6611813" y="639896"/>
                </a:lnTo>
                <a:lnTo>
                  <a:pt x="6589309" y="675433"/>
                </a:lnTo>
                <a:lnTo>
                  <a:pt x="6563430" y="708593"/>
                </a:lnTo>
                <a:lnTo>
                  <a:pt x="6534426" y="739057"/>
                </a:lnTo>
                <a:lnTo>
                  <a:pt x="6502575" y="766532"/>
                </a:lnTo>
                <a:lnTo>
                  <a:pt x="6468184" y="790752"/>
                </a:lnTo>
                <a:lnTo>
                  <a:pt x="6431586" y="811484"/>
                </a:lnTo>
                <a:lnTo>
                  <a:pt x="6393131" y="828530"/>
                </a:lnTo>
                <a:lnTo>
                  <a:pt x="6353191" y="841724"/>
                </a:lnTo>
                <a:lnTo>
                  <a:pt x="6312149" y="850940"/>
                </a:lnTo>
                <a:lnTo>
                  <a:pt x="6270402" y="856088"/>
                </a:lnTo>
                <a:lnTo>
                  <a:pt x="6238874" y="857249"/>
                </a:lnTo>
                <a:close/>
              </a:path>
            </a:pathLst>
          </a:custGeom>
          <a:solidFill>
            <a:srgbClr val="D9B44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8683625" y="8211429"/>
            <a:ext cx="4918710" cy="7112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878964" marR="5080" indent="-1866900">
              <a:lnSpc>
                <a:spcPct val="112500"/>
              </a:lnSpc>
              <a:spcBef>
                <a:spcPts val="90"/>
              </a:spcBef>
            </a:pPr>
            <a:r>
              <a:rPr sz="2000" b="1" spc="-105" dirty="0">
                <a:solidFill>
                  <a:srgbClr val="163A26"/>
                </a:solidFill>
                <a:latin typeface="Tahoma"/>
                <a:cs typeface="Tahoma"/>
              </a:rPr>
              <a:t>Join</a:t>
            </a:r>
            <a:r>
              <a:rPr sz="2000" b="1" spc="-14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000" b="1" spc="-114" dirty="0">
                <a:solidFill>
                  <a:srgbClr val="163A26"/>
                </a:solidFill>
                <a:latin typeface="Tahoma"/>
                <a:cs typeface="Tahoma"/>
              </a:rPr>
              <a:t>us</a:t>
            </a:r>
            <a:r>
              <a:rPr sz="2000" b="1" spc="-13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000" b="1" spc="-120" dirty="0">
                <a:solidFill>
                  <a:srgbClr val="163A26"/>
                </a:solidFill>
                <a:latin typeface="Tahoma"/>
                <a:cs typeface="Tahoma"/>
              </a:rPr>
              <a:t>in</a:t>
            </a:r>
            <a:r>
              <a:rPr sz="2000" b="1" spc="-14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000" b="1" spc="-114" dirty="0">
                <a:solidFill>
                  <a:srgbClr val="163A26"/>
                </a:solidFill>
                <a:latin typeface="Tahoma"/>
                <a:cs typeface="Tahoma"/>
              </a:rPr>
              <a:t>building</a:t>
            </a:r>
            <a:r>
              <a:rPr sz="2000" b="1" spc="-95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000" b="1" spc="-130" dirty="0">
                <a:solidFill>
                  <a:srgbClr val="163A26"/>
                </a:solidFill>
                <a:latin typeface="Tahoma"/>
                <a:cs typeface="Tahoma"/>
              </a:rPr>
              <a:t>more</a:t>
            </a:r>
            <a:r>
              <a:rPr sz="2000" b="1" spc="-110" dirty="0">
                <a:solidFill>
                  <a:srgbClr val="163A26"/>
                </a:solidFill>
                <a:latin typeface="Tahoma"/>
                <a:cs typeface="Tahoma"/>
              </a:rPr>
              <a:t> </a:t>
            </a:r>
            <a:r>
              <a:rPr sz="2000" b="1" spc="-95" dirty="0">
                <a:solidFill>
                  <a:srgbClr val="163A26"/>
                </a:solidFill>
                <a:latin typeface="Tahoma"/>
                <a:cs typeface="Tahoma"/>
              </a:rPr>
              <a:t>confident </a:t>
            </a:r>
            <a:r>
              <a:rPr sz="2000" b="1" spc="-75" dirty="0">
                <a:solidFill>
                  <a:srgbClr val="163A26"/>
                </a:solidFill>
                <a:latin typeface="Tahoma"/>
                <a:cs typeface="Tahoma"/>
              </a:rPr>
              <a:t>planting </a:t>
            </a:r>
            <a:r>
              <a:rPr sz="2000" b="1" spc="-10" dirty="0">
                <a:solidFill>
                  <a:srgbClr val="163A26"/>
                </a:solidFill>
                <a:latin typeface="Tahoma"/>
                <a:cs typeface="Tahoma"/>
              </a:rPr>
              <a:t>decisions.</a:t>
            </a:r>
            <a:endParaRPr sz="20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7C6A79-8488-1DC0-CB07-C14B44F16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>
            <a:extLst>
              <a:ext uri="{FF2B5EF4-FFF2-40B4-BE49-F238E27FC236}">
                <a16:creationId xmlns:a16="http://schemas.microsoft.com/office/drawing/2014/main" id="{D875F424-4B4F-B120-47D3-E4092469E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718050" y="3011185"/>
            <a:ext cx="8851900" cy="42646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35"/>
              </a:spcBef>
            </a:pPr>
            <a:r>
              <a:rPr lang="en-US" sz="13800" spc="-500" dirty="0"/>
              <a:t>THANK YOU</a:t>
            </a:r>
            <a:endParaRPr sz="13800" spc="-600" dirty="0"/>
          </a:p>
        </p:txBody>
      </p:sp>
    </p:spTree>
    <p:extLst>
      <p:ext uri="{BB962C8B-B14F-4D97-AF65-F5344CB8AC3E}">
        <p14:creationId xmlns:p14="http://schemas.microsoft.com/office/powerpoint/2010/main" val="38583765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B5832A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</TotalTime>
  <Words>760</Words>
  <Application>Microsoft Office PowerPoint</Application>
  <PresentationFormat>Custom</PresentationFormat>
  <Paragraphs>124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Tahoma</vt:lpstr>
      <vt:lpstr>Trebuchet MS</vt:lpstr>
      <vt:lpstr>Office Theme</vt:lpstr>
      <vt:lpstr>PowerPoint Presentation</vt:lpstr>
      <vt:lpstr>AI-Based Crop Recommendation for Farmers</vt:lpstr>
      <vt:lpstr>Team Members</vt:lpstr>
      <vt:lpstr>PowerPoint Presentation</vt:lpstr>
      <vt:lpstr>PowerPoint Presentation</vt:lpstr>
      <vt:lpstr>What the study should examine</vt:lpstr>
      <vt:lpstr>Who we serve</vt:lpstr>
      <vt:lpstr>Alternatives today</vt:lpstr>
      <vt:lpstr>What could slow us down</vt:lpstr>
      <vt:lpstr>See it in action</vt:lpstr>
      <vt:lpstr>From field data to planting plan</vt:lpstr>
      <vt:lpstr>Lean Canvas Model</vt:lpstr>
      <vt:lpstr>Funding the first harvest</vt:lpstr>
      <vt:lpstr>From seed idea to regional scale</vt:lpstr>
      <vt:lpstr>AI-Based Crop Recommendation for Farmers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</dc:title>
  <dc:creator>Sri Vishwa Chaitanya .</dc:creator>
  <cp:lastModifiedBy>Sri Vishwa Chaitanya .</cp:lastModifiedBy>
  <cp:revision>3</cp:revision>
  <dcterms:created xsi:type="dcterms:W3CDTF">2026-10-16T06:08:04Z</dcterms:created>
  <dcterms:modified xsi:type="dcterms:W3CDTF">2026-10-16T06:58:49Z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2026-10-16T00:00:00Z</vt:filetime>
  </property>
  <property fmtid="{D5CDD505-2E9C-101B-9397-08002B2CF9AE}" pid="3" name="Creator">
    <vt:lpwstr>Chromium</vt:lpwstr>
  </property>
  <property fmtid="{D5CDD505-2E9C-101B-9397-08002B2CF9AE}" pid="4" name="LastSaved">
    <vt:filetime>2026-10-16T00:00:00Z</vt:filetime>
  </property>
  <property fmtid="{D5CDD505-2E9C-101B-9397-08002B2CF9AE}" pid="5" name="Producer">
    <vt:lpwstr>Skia/PDF m153</vt:lpwstr>
  </property>
</Properties>
</file>